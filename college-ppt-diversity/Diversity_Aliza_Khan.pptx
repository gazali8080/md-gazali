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e2207c-692d-c802-7154-b0495d41d15f}">
          <p14:sldIdLst>
            <p14:sldId id="256"/>
          </p14:sldIdLst>
        </p14:section>
        <p14:section name="Meaning and significance" id="{d466c275-eb8a-58b8-fd52-96821f688098}">
          <p14:sldIdLst>
            <p14:sldId id="257"/>
            <p14:sldId id="258"/>
          </p14:sldIdLst>
        </p14:section>
        <p14:section name="India as a case study" id="{c77fd539-c093-e91d-00b2-c289137e3903}">
          <p14:sldIdLst>
            <p14:sldId id="259"/>
            <p14:sldId id="260"/>
          </p14:sldIdLst>
        </p14:section>
        <p14:section name="Unity in diversity" id="{bc000ce7-6d9a-1558-2de6-834e0df59f8a}">
          <p14:sldIdLst>
            <p14:sldId id="261"/>
            <p14:sldId id="262"/>
          </p14:sldIdLst>
        </p14:section>
        <p14:section name="Contemporary debates" id="{ee36e828-3893-2e0e-dbb2-bbf3114618b8}">
          <p14:sldIdLst>
            <p14:sldId id="263"/>
            <p14:sldId id="264"/>
          </p14:sldIdLst>
        </p14:section>
        <p14:section name="Conclusion" id="{60f7bc6f-a67c-47cc-3613-dc9668d7233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F4F"/>
                </a:solidFill>
                <a:latin typeface="+mn-lt"/>
              </a:defRPr>
            </a:pPr>
            <a:r>
              <a:rPr sz="1300" b="0" i="0" u="none" strike="noStrike">
                <a:solidFill>
                  <a:srgbClr val="1F2F4F"/>
                </a:solidFill>
                <a:latin typeface="+mn-lt"/>
              </a:rPr>
              <a:t>Religious communities, Census 2011 (% of population)</a:t>
            </a:r>
          </a:p>
        </c:rich>
      </c:tx>
      <c:layout/>
      <c:overlay val="0"/>
    </c:title>
    <c:autoTitleDeleted val="0"/>
    <c:plotArea>
      <c:layout/>
      <c:barChart>
        <c:barDir val="bar"/>
        <c:grouping val="clustered"/>
        <c:varyColors val="0"/>
        <c:ser>
          <c:idx val="0"/>
          <c:order val="0"/>
          <c:tx>
            <c:strRef>
              <c:f>Sheet1!$B$1</c:f>
              <c:strCache>
                <c:ptCount val="1"/>
                <c:pt idx="0">
                  <c:v>Share of population (%)</c:v>
                </c:pt>
              </c:strCache>
            </c:strRef>
          </c:tx>
          <c:spPr>
            <a:solidFill>
              <a:srgbClr val="1E5A43"/>
            </a:solidFill>
            <a:effectLst/>
          </c:spPr>
          <c:invertIfNegative val="0"/>
          <c:dLbls>
            <c:numFmt formatCode="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Hindu</c:v>
                  </c:pt>
                  <c:pt idx="1">
                    <c:v>Muslim</c:v>
                  </c:pt>
                  <c:pt idx="2">
                    <c:v>Christian</c:v>
                  </c:pt>
                  <c:pt idx="3">
                    <c:v>Sikh</c:v>
                  </c:pt>
                  <c:pt idx="4">
                    <c:v>Buddhist</c:v>
                  </c:pt>
                  <c:pt idx="5">
                    <c:v>Jain</c:v>
                  </c:pt>
                  <c:pt idx="6">
                    <c:v>Other / not stated</c:v>
                  </c:pt>
                </c:lvl>
              </c:multiLvlStrCache>
            </c:multiLvlStrRef>
          </c:cat>
          <c:val>
            <c:numRef>
              <c:f>Sheet1!$B$2:$B$8</c:f>
              <c:numCache>
                <c:formatCode>General</c:formatCode>
                <c:ptCount val="7"/>
                <c:pt idx="0">
                  <c:v>79.8</c:v>
                </c:pt>
                <c:pt idx="1">
                  <c:v>14.2</c:v>
                </c:pt>
                <c:pt idx="2">
                  <c:v>2.3</c:v>
                </c:pt>
                <c:pt idx="3">
                  <c:v>1.7</c:v>
                </c:pt>
                <c:pt idx="4">
                  <c:v>0.7</c:v>
                </c:pt>
                <c:pt idx="5">
                  <c:v>0.4</c:v>
                </c:pt>
                <c:pt idx="6">
                  <c:v>0.9</c:v>
                </c:pt>
              </c:numCache>
            </c:numRef>
          </c:val>
        </c:ser>
        <c:dLbls>
          <c:numFmt formatCode="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3"/>
                </a:solidFill>
                <a:latin typeface="+mn-lt"/>
              </a:defRPr>
            </a:pPr>
            <a:endParaRPr lang="en-US"/>
          </a:p>
        </c:txPr>
        <c:crossAx val="2094734552"/>
        <c:crosses val="autoZero"/>
        <c:auto val="1"/>
        <c:lblAlgn val="ctr"/>
        <c:noMultiLvlLbl val="1"/>
        <c:tickLblSkip val="1"/>
      </c:catAx>
      <c:valAx>
        <c:axId val="2094734552"/>
        <c:scaling>
          <c:orientation val="minMax"/>
          <c:max val="9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Good morning. My topic is Diversity, from Unit IV (Contemporary Debates) of our textbook, Theory and Practice of Democracy, Lesson 4, printed pages 72 to 77.
I will cover four things the textbook discusses: what diversity means and why it matters in a democracy; India as a case study and the reasons for its diversity; the factors that hold a diverse India together; and the contemporary debates on diversity in India and the world.
The photos show three regions of India: the Hornbill Festival of the Naga tribes in Nagaland, a kolam drawn for Pongal in Tamil Nadu, and the meji bonfire of Magh Bihu in Assam.
Primary source: Batham, M. (2023). Diversity, representation, and globalisation and global issues (Unit IV, Lesson 4). In Theory and Practice of Democracy (B.A. Programme Political Science, Semester III). Department of Distance and Continuing Education, Campus of Open Learning, School of Open Learning, University of Delhi, pp. 72-77.
Photos: "Hornbill Festival, Pix by Vikramjit Kakati" (CC BY-SA 4.0); "Pongal celebration kolam" by Priyadharshini Mohanraj (CC BY-SA 4.0); "Magh Bihu Celebration with Meji in Sivasagar, Assam" by Nilotpal Hazarika (CC BY-SA 4.0), all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Meaning: The textbook defines diversity as "the existence of a broad variety of unique individuals, objects, or social constructs within a given group or civilisation" (p. 72). In a social setting, it refers to differences between people based on socio-economic class, gender, sexual orientation, age, race and ethnicity, among other traits (pp. 72-73). Later (p. 74) it adds culture, language and gender identity, and says diversity can exist anywhere people come from different settings - a workplace, a state, or a country.
The textbook also points out that the term diversity "stresses differences rather than inequalities" (pp. 73-74). This is an important distinction: being different is not the same as being unequal. But in real life, differences can turn into inequality when some groups are excluded - which is why democracies care about inclusion.
Recognising vs including: recognising diversity just means accepting that people differ. Inclusion goes further - it means people from every background can actually participate, be represented and access opportunities. This is my own framing to connect the definition with the next slide on democracy.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 73) calls diversity "a key virtue" in democratic societies because it fosters inclusivity, equity and respect for all viewpoints. It gives four reasons:
1. Representation - a diverse society can reflect the views and interests of all its inhabitants, instead of only a small segment.
2. Equity - all members are more likely to have equal access to resources and opportunities, regardless of background.
3. Dialogue and understanding - people from different backgrounds can communicate and understand one another better, which encourages tolerance and lessens discrimination.
4. Innovation and progress - people with different experiences offer original thoughts and solutions to complicated problems.
Note the careful wording in the textbook: "more likely", "may", "can". These are potential benefits, not automatic results. A society can be very diverse and still exclude some groups. So the democratic question is not only "are we diverse?" but "can everyone participate meaningfully?" This links to the textbook's conclusion that the problem lies in how diversity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 73) describes India as "the land of diversity" and quotes a famous Hindi saying:
"Kos-kos par badle paani, chaar kos par vaani" - every kos the water (its taste) changes, and every four kos the speech or dialect (vaani) changes. In simple words: travel a short distance in India and even everyday things like water and language change.
Small correction: the textbook calls the kos "an old Indian unit of area", but a kos is actually a traditional unit of distance. Its length varied - roughly 2 to 4 km; the Mughal standard under Akbar was about 4 km.
Figures, with their dates:
- 28 states and 8 Union Territories: this has been the position since January 2020, when Dadra and Nagar Haveli and Daman and Diu were merged. It is still current.
- 22 languages in the Eighth Schedule of the Constitution: the list reached 22 in 2003 (92nd Amendment).
- The textbook says India has "more than 19500 spoken dialects" according to 2011 data. More precisely, Census 2011 recorded 19,569 raw mother-tongue names. After linguistic scrutiny these were rationalised into 1,369 mother tongues, which were grouped into 121 languages (22 scheduled and 99 non-scheduled). So the 19,500+ figure counts names people reported, not separate dialects. These are 2011 figures; the next census (2027) has not yet published language data.
- Religion (chart): Census 2011 - Hindus 79.8%, Muslims 14.2%, Christians 2.3%, Sikhs 1.7%, Buddhists 0.7%, Jains 0.4%; other religions 0.7% and not stated 0.2% (shown together as 0.9%).
The textbook also calls India "a synthesis of cultures, languages and religions belonging to various castes and communities" (p. 73).
References:
- Office of the Registrar General and Census Commissioner, India (2018). Census of India 2011 - Language: India, States and Union Territories (Paper 1 of 2018).
- Office of the Registrar General and Census Commissioner, India (2015). Census of India 2011 - Population by religious community (Table C-1).
Photo: "Hornbill Festival, Pix by Vikramjit Kakati",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(pp. 74-75) gives six reasons for India's diversity:
1. Racial groups / ancestry: The textbook lists "Negrito, Proto-Australoid, Mongoloid, Mediterranean, Western Brachycephals and Nordic" groups "according to the 1931 census", and says the three "major races" are found in India. Context: this list comes from the anthropologist B.S. Guha's study "The Racial Affinities of the People of India", published as part of the Census of India 1931. It was based on measuring skulls, noses and height - methods that modern science no longer accepts. Today biological anthropologists agree that "race" is not an accurate description of human biological variation (AAPA statement, 2019). Genetic studies instead show that most Indians descend from a mixture of ancient populations (Reich et al., 2009, Nature; Narasimhan et al., 2019, Science). So the safe point to make is: India's population was formed by many migrations and much mixing over thousands of years.
2. Religion: Hinduism, Buddhism, Sikhism and Jainism originated in India; Islam and Christianity are also practised, and each has many sub-sects. Religion has shaped Indian culture throughout history.
3. Language: The textbook says Indo-Aryan languages are spoken by 78.05% and Dravidian languages by 19.64% of Indians. Census 2011 data give about 78% for the Indo-European family and 19.64% for Dravidian. Smaller families include Austroasiatic, Sino-Tibetan (Tibeto-Burman), Tai-Kadai and some isolates.
4. Caste or jati: The textbook distinguishes the four varnas (Brahmins, Kshatriyas, Vaishyas, Shudras, with Dalits outside this scheme) from the many jatis, which were traditionally linked to occupation. It says the varna scheme was "mainly popularised by Britishers in their first Caste Census in 1872". Historians such as Nicholas Dirks (Castes of Mind, 2001) argue that colonial census-taking made caste categories more rigid - though caste itself is much older. The textbook notes that education, empowerment, inter-caste marriage and inter-dining are making the jati system more flexible.
5. Geography: India is the seventh-largest country by area, with the young Himalayas and the old Aravallis, a cold desert in Ladakh and a hot desert in the Thar, perennial and non-perennial rivers, long coasts, forests and fertile plains.
6. Culture: Because of all the above, culture varies by region - life in the hills differs from the plains, coasts and deserts - and each religion, caste and region has its own traditions in architecture, dance and folk song.
References:
- Guha, B.S. (1935). The Racial Affinities of the People of India. Census of India 1931, Vol. I, Part III. Simla: Government of India Press.
- Reich, D., Thangaraj, K., Patterson, N., Price, A.L. and Singh, L. (2009). Reconstructing Indian population history. Nature, 461, 489-494.
- Narasimhan, V.M. et al. (2019). The formation of human populations in South and Central Asia. Science, 365(6457), eaat7487.
- American Association of Physical Anthropologists (2019). AAPA Statement on Race and Racism.
- Dirks, N.B. (2001). Castes of Mind: Colonialism and the Making of Modern India. Princeton University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(pp. 75-76) lists factors responsible for unity in diversity. The first four are institutional:
1. Indian Constitution: it provides a "solid backbone" to run a huge country. One national framework and a "three-tier government structure" (Union, States, and local bodies - panchayats and municipalities, constitutionally recognised by the 73rd and 74th Amendments, 1992) give uniformity in governance. Fundamental rights are guaranteed to all citizens regardless of class, caste, gender, age or religion - for example Article 14 (equality before law) and Article 15 (no discrimination on grounds of religion, race, caste, sex or place of birth).
2. Inter-state mobility: Article 19(1)(d) gives every citizen the freedom to move freely throughout India; Article 19(1)(e) adds the right to reside and settle anywhere. Moving and living together builds a shared sense of belonging.
3. Secularism: there is no state religion; Articles 25-28 guarantee freedom of conscience and the right to practise and propagate religion. The word "secular" was added to the Preamble by the 42nd Amendment in 1976. The textbook describes religious co-existence with tolerance as a unique feature of India.
4. Economic incorporation: the Constitution gives the same rules for trade and commerce across the country, and the Goods and Services Tax (introduced on 1 July 2017 after the 101st Amendment, 2016) made indirect taxation more uniform.
Balance: these features give all Indians common rights and rules, but they do not make every region or community equal in practice. Inequalities of class, caste, gender and region continue - which is why the debates on later slides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textbook's remaining unity factors (p. 76) are about shared everyday experience:
5. Festivals: Around 14 January, the same harvest festival is celebrated across India under different names - Makar Sankranti (MP, UP, Bihar, Delhi, Chhattisgarh, Haryana), Uttarayan (Gujarat), Magh Bihu (Assam), Shishur Saenkrant (Kashmir Valley), Poush Sankranti (West Bengal), Lohri (Punjab), Thai Pongal (Tamil Nadu) and Suggi Habba (Karnataka). The textbook also says major festivals of different religions are celebrated "with great harmony".
Correction: the textbook says Indian festivals "follow the lunar calendar". Most do, but Makar Sankranti is a solar festival - it marks the Sun entering Capricorn (Makara) - which is exactly why it falls on 14 or 15 January every year.
6. Monsoon climate: the monsoon shapes agriculture, ways of life, plants and animals, and festivals across the subcontinent. According to the India Meteorological Department, the June-September south-west monsoon gives about 75% of India's annual rainfall (all-India normal: 87 cm, based on 1971-2020).
7. Common language and sports: The textbook says Hindi is spoken by "the majority" and that Indians typically speak "more than two languages". Hindi (in Devanagari) is the official language of the Union under Article 343, and English continues to be used officially under the Official Languages Act, 1963. India has no single "national language". Census 2011 data qualify the textbook's claim: Hindi was the mother tongue of 43.63% of people, and about 26% reported being bilingual. Bollywood films spread Hindi in India and abroad, and cricket brings people together across regions.
Balance: these shared experiences connect people, but they do not affect every community in the same way - for example, many states have their own dominant language and festivals, and the monsoon's effect depends on where you live and how you earn a living.
References: India Meteorological Department (2022), revision of the all-India rainfall normal; Census of India 2011, language tables (C-16, C-17); Constitution of India, Art. 343; Official Languages Act, 1963.
Photos: "Magh Bihu Celebration with Meji in Sivasagar, Assam" (Nilotpal Hazarika, CC BY-SA 4.0); "Monsoon Kaveri Doddegaudana Koppalu Mandya" (Timothy A. Gonsalves, CC BY-SA 4.0); "Eden Gardens Kolkata" (Partha Bhaumik, CC BY-SA 2.0) -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(pp. 76-77) presents these as live debates, both in India and globally. I present both sides as the textbook describes them; the "Indian context" column adds verified facts.
Political representation: some argue that political parties and organisations should represent the various populations they work with more accurately (sometimes called "mirror" or descriptive representation). Others argue representation should be decided by ability rather than identity. In India, the Constitution reserves Lok Sabha seats for Scheduled Castes and Scheduled Tribes (Articles 330 and 332): currently 84 SC and 47 ST seats out of 543. The 106th Constitutional Amendment (2023) reserves one-third of seats in the Lok Sabha and state assemblies for women, but it takes effect only after the next census and the delimitation that follows it.
Affirmative action: the textbook calls this "the most debatable topic in India and elsewhere". It aims to remove historical prejudice against marginalised groups like Dalits and Adivasis. For supporters, it guarantees equality and representation for underprivileged groups. The textbook says that, for dominant groups, it is seen as discriminatory and not based on individual merit.
Indian context: Articles 15(4) and 16(4) permit special provisions and reservations. In Indra Sawhney v. Union of India (1992) the Supreme Court upheld 27% OBC reservation, excluded the "creamy layer" and set a general 50% ceiling. The 103rd Amendment (2019) created a 10% quota for economically weaker sections, upheld in Janhit Abhiyan v. Union of India (2022). The Census 2027 schedule includes a caste question for the first time since independence (beyond SC/ST).
This is not a simple two-sided debate: many positions lie in between - for example, excluding the better-off within reserved groups (creamy layer), sub-classification within reserved categories (allowed by the Supreme Court in 2024 for SCs and STs), or combining reservation with better schooling.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(p. 77) discusses three more debates.
Cultural appropriation: The textbook describes a global trend of following developed countries' lifestyles and food habits "without appreciating or recognising their value", giving the examples of Chinese food becoming "fast food" and McDonald's burgers being popular worldwide. It says cultural interchange is a crucial part of human connection in a globalised era, while for others cultural appropriation is "a kind of exploitation and erasure of marginalised cultures".
Clarification: in academic use, cultural appropriation usually means a more powerful group taking elements of a marginalised group's culture without credit, understanding or benefit to that community. The textbook's examples are closer to cultural globalisation. A clearer Indian example: in June 2025, Prada showed "leather sandals" in Milan that closely resembled Kolhapuri chappals, which hold a Geographical Indication (GI) tag. After protests by artisans and Maharashtra bodies, Prada acknowledged that the design was inspired by traditional Indian footwear.
Diversity in the workplace: freedom of movement brings diverse groups to big cities and workplaces. "Progressive theories" say diversity is necessary for creativity and progress, so firms should promote it in hiring and promotion; others, including locals, think the most qualified applicants should be preferred. Indian context: Section 149(1) of the Companies Act, 2013 requires listed and large public companies to have at least one woman director. Haryana's 2020 law reserving 75% of lower-paid private jobs for local residents was struck down by the Punjab and Haryana High Court in November 2023 as unconstitutional; the state has challenged this in the Supreme Court.
Immigration and nationalism: the textbook says immigration is essential for economic development, "but it endangers national security and weakens national identity too", and mentions India and the United States. This is the textbook's description of one side of a heated debate, not a settled fact - research on migration's effects is mixed. Indian context: Census 2011 counted about 45.6 crore people as migrants (mostly within India, often for marriage or work). Debates over the Citizenship (Amendment) Act, 2019 (rules notified in March 2024) and Assam's National Register of Citizens (final list in August 2019) show how migration, identity and citizenship are linked.
References: Companies Act, 2013, s. 149(1); Punjab and Haryana High Court, Faridabad Industries Association v. State of Haryana (17 November 2023), as reported by Bar and Bench; Census of India 2011 migration tables (D-series); exchange4media and Deccan Herald reports on Prada and Kolhapuri chappals (June-July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textbook ends its section on diversity (pp. 77-78) by saying diversity is "a complicated and multidimensional concept", that challenges arise when inclusivity and equity are applied in varied cultures, and that "our constitutional structure has given us a strong foundation". Its key line is: "The problem does not lie in diversity but in the handling of diversity in any society." It describes India as "a unique mosaic" where people have developed "a composite way of living".
My three takeaways:
1. Diversity has many dimensions, and in India they overlap - religion, language, caste, region, class and gender.
2. India's unity comes from constitutional values like equality, fundamental rights and secularism, and from shared experiences - not from everyone being the same.
3. The contemporary debates are really about how to include everyone fairly. Diversity does not automatically produce harmony, but it is not the problem either; what matters is how institutions and society handle it.
Thank you. I am happy to take questions.
Full references (APA 7th):
- Batham, M. (2023). Diversity, representation, and globalisation and global issues (Unit IV, Lesson 4). In Theory and practice of democracy (B.A. Programme Political Science, Semester III, pp. 71-78; prescribed reading pp. 72-77). Department of Distance and Continuing Education, Campus of Open Learning, School of Open Learning, University of Delhi.
- Constitution of India (as amended). Articles 14-16, 19, 25-28, 330, 332, 343; Eighth Schedule; 42nd (1976), 101st (2016), 103rd (2019) and 106th (2023) Amendments.
- Office of the Registrar General &amp; Census Commissioner, India. (2018). Census of India 2011 - Language: India, States and Union Territories (Paper 1 of 2018). Also Census 2011 Table C-1 (religion), C-16/C-17 (language) and D-series (migration).
- Guha, B. S. (1935). The racial affinities of the people of India (Census of India 1931, Vol. I, Part III). Government of India Press.
- Reich, D., Thangaraj, K., Patterson, N., Price, A. L., &amp; Singh, L. (2009). Reconstructing Indian population history. Nature, 461, 489-494.
- Narasimhan, V. M., et al. (2019). The formation of human populations in South and Central Asia. Science, 365(6457), eaat7487.
- American Association of Physical Anthropologists. (2019). AAPA statement on race and racism.
- Dirks, N. B. (2001). Castes of mind: Colonialism and the making of modern India. Princeton University Press.
- India Meteorological Department. (2022). Revision of the all-India rainfall normal to 87 cm (based on 1971-2020).
- Indra Sawhney v. Union of India, AIR 1993 SC 477 (decided 16 November 1992); Janhit Abhiyan v. Union of India (decided 7 November 2022).
- News context: exchange4media and Deccan Herald (June-July 2025) on Prada and Kolhapuri chappals; Bar and Bench (2024) on the Haryana local-jobs quota appeal.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Navy">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852160" cy="10058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Ivory">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46520"/>
            <a:ext cx="9144000" cy="274320"/>
          </a:xfrm>
          <a:prstGeom prst="rect">
            <a:avLst/>
          </a:prstGeom>
          <a:noFill/>
          <a:ln/>
        </p:spPr>
        <p:txBody>
          <a:bodyPr wrap="square" lIns="0" tIns="0" rIns="0" bIns="0" rtlCol="0" anchor="ctr"/>
          <a:lstStyle/>
          <a:p>
            <a:pPr indent="0" marL="0">
              <a:buNone/>
            </a:pPr>
            <a:r>
              <a:rPr lang="en-US" sz="1000" dirty="0">
                <a:solidFill>
                  <a:srgbClr val="5E6673"/>
                </a:solidFill>
              </a:rPr>
              <a:t>Diversity  |  Aliza Khan, BA Programme  |  Based on Theory and Practice of Democracy, Unit IV, pp. 72–77</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Navy">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2E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Hornbill" descr="Naga dancers in traditional headdresses leaping mid-air at the Hornbill Festival, Nagaland">    </p:cNvPr>
          <p:cNvPicPr>
            <a:picLocks noChangeAspect="1"/>
          </p:cNvPicPr>
          <p:nvPr/>
        </p:nvPicPr>
        <p:blipFill>
          <a:blip r:embed="rId1"/>
          <a:srcRect l="0" r="0" t="0" b="0"/>
          <a:stretch/>
        </p:blipFill>
        <p:spPr>
          <a:xfrm>
            <a:off x="6903720" y="0"/>
            <a:ext cx="5287975" cy="4023360"/>
          </a:xfrm>
          <a:prstGeom prst="rect">
            <a:avLst/>
          </a:prstGeom>
        </p:spPr>
      </p:pic>
      <p:pic>
        <p:nvPicPr>
          <p:cNvPr id="3" name="Title photo kolam" descr="Colourful kolam floor design drawn for Pongal">    </p:cNvPr>
          <p:cNvPicPr>
            <a:picLocks noChangeAspect="1"/>
          </p:cNvPicPr>
          <p:nvPr/>
        </p:nvPicPr>
        <p:blipFill>
          <a:blip r:embed="rId2"/>
          <a:srcRect l="0" r="0" t="0" b="0"/>
          <a:stretch/>
        </p:blipFill>
        <p:spPr>
          <a:xfrm>
            <a:off x="6903720" y="4078224"/>
            <a:ext cx="2615184" cy="2779776"/>
          </a:xfrm>
          <a:prstGeom prst="rect">
            <a:avLst/>
          </a:prstGeom>
        </p:spPr>
      </p:pic>
      <p:pic>
        <p:nvPicPr>
          <p:cNvPr id="4" name="Title photo Bihu" descr="Families gathered around a meji bonfire during Magh Bihu in Sivasagar, Assam">    </p:cNvPr>
          <p:cNvPicPr>
            <a:picLocks noChangeAspect="1"/>
          </p:cNvPicPr>
          <p:nvPr/>
        </p:nvPicPr>
        <p:blipFill>
          <a:blip r:embed="rId3"/>
          <a:srcRect l="0" r="0" t="0" b="0"/>
          <a:stretch/>
        </p:blipFill>
        <p:spPr>
          <a:xfrm>
            <a:off x="9576511" y="4078224"/>
            <a:ext cx="2615184" cy="2779776"/>
          </a:xfrm>
          <a:prstGeom prst="rect">
            <a:avLst/>
          </a:prstGeom>
        </p:spPr>
      </p:pic>
      <p:sp>
        <p:nvSpPr>
          <p:cNvPr id="5" name="Kicker"/>
          <p:cNvSpPr txBox="1"/>
          <p:nvPr/>
        </p:nvSpPr>
        <p:spPr>
          <a:xfrm>
            <a:off x="640080" y="685800"/>
            <a:ext cx="5852160" cy="365760"/>
          </a:xfrm>
          <a:prstGeom prst="rect">
            <a:avLst/>
          </a:prstGeom>
          <a:noFill/>
          <a:ln/>
        </p:spPr>
        <p:txBody>
          <a:bodyPr wrap="square" lIns="0" tIns="0" rIns="0" bIns="0" rtlCol="0" anchor="t"/>
          <a:lstStyle/>
          <a:p>
            <a:pPr indent="0" marL="0">
              <a:buNone/>
            </a:pPr>
            <a:r>
              <a:rPr lang="en-US" sz="1400" b="1" spc="200" kern="0" dirty="0">
                <a:solidFill>
                  <a:srgbClr val="C8792A"/>
                </a:solidFill>
              </a:rPr>
              <a:t>UNIT IV  ·  CONTEMPORARY DEBATES</a:t>
            </a:r>
            <a:endParaRPr lang="en-US" sz="1400" dirty="0"/>
          </a:p>
        </p:txBody>
      </p:sp>
      <p:sp>
        <p:nvSpPr>
          <p:cNvPr id="6" name="Text 0"/>
          <p:cNvSpPr/>
          <p:nvPr>
            <p:ph idx="100" type="title" hasCustomPrompt="1"/>
          </p:nvPr>
        </p:nvSpPr>
        <p:spPr>
          <a:xfrm>
            <a:off x="640080" y="1188720"/>
            <a:ext cx="5852160" cy="100584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Diversity</a:t>
            </a:r>
            <a:endParaRPr lang="en-US" sz="5400" dirty="0"/>
          </a:p>
        </p:txBody>
      </p:sp>
      <p:sp>
        <p:nvSpPr>
          <p:cNvPr id="7" name="Subtitle"/>
          <p:cNvSpPr txBox="1"/>
          <p:nvPr/>
        </p:nvSpPr>
        <p:spPr>
          <a:xfrm>
            <a:off x="640080" y="2286000"/>
            <a:ext cx="5943600" cy="1005840"/>
          </a:xfrm>
          <a:prstGeom prst="rect">
            <a:avLst/>
          </a:prstGeom>
          <a:noFill/>
          <a:ln/>
        </p:spPr>
        <p:txBody>
          <a:bodyPr wrap="square" lIns="0" tIns="0" rIns="0" bIns="0" rtlCol="0" anchor="t"/>
          <a:lstStyle/>
          <a:p>
            <a:pPr indent="0" marL="0">
              <a:buNone/>
            </a:pPr>
            <a:r>
              <a:rPr lang="en-US" sz="2600" dirty="0">
                <a:solidFill>
                  <a:srgbClr val="E9E1CC"/>
                </a:solidFill>
                <a:latin typeface="Cambria" pitchFamily="34" charset="0"/>
                <a:ea typeface="Cambria" pitchFamily="34" charset="-122"/>
                <a:cs typeface="Cambria" pitchFamily="34" charset="-120"/>
              </a:rPr>
              <a:t>Understanding India's Social and Cultural Plurality</a:t>
            </a:r>
            <a:endParaRPr lang="en-US" sz="2600" dirty="0"/>
          </a:p>
        </p:txBody>
      </p:sp>
      <p:sp>
        <p:nvSpPr>
          <p:cNvPr id="8" name="Student details"/>
          <p:cNvSpPr txBox="1"/>
          <p:nvPr/>
        </p:nvSpPr>
        <p:spPr>
          <a:xfrm>
            <a:off x="640080" y="3657600"/>
            <a:ext cx="6035040" cy="1737360"/>
          </a:xfrm>
          <a:prstGeom prst="rect">
            <a:avLst/>
          </a:prstGeom>
          <a:noFill/>
          <a:ln/>
        </p:spPr>
        <p:txBody>
          <a:bodyPr wrap="square" lIns="0" tIns="0" rIns="0" bIns="0" rtlCol="0" anchor="t"/>
          <a:lstStyle/>
          <a:p>
            <a:pPr indent="0" marL="0">
              <a:spcAft>
                <a:spcPts val="400"/>
              </a:spcAft>
              <a:buNone/>
            </a:pPr>
            <a:r>
              <a:rPr lang="en-US" sz="2600" b="1" dirty="0">
                <a:solidFill>
                  <a:srgbClr val="FFFFFF"/>
                </a:solidFill>
              </a:rPr>
              <a:t>Aliza Khan</a:t>
            </a:r>
            <a:endParaRPr lang="en-US" sz="2600" dirty="0"/>
          </a:p>
          <a:p>
            <a:pPr indent="0" marL="0">
              <a:spcAft>
                <a:spcPts val="400"/>
              </a:spcAft>
              <a:buNone/>
            </a:pPr>
            <a:r>
              <a:rPr lang="en-US" sz="1800" dirty="0">
                <a:solidFill>
                  <a:srgbClr val="E3E8F2"/>
                </a:solidFill>
              </a:rPr>
              <a:t>Roll Number: 25501012</a:t>
            </a:r>
            <a:endParaRPr lang="en-US" sz="2600" dirty="0"/>
          </a:p>
          <a:p>
            <a:pPr indent="0" marL="0">
              <a:spcAft>
                <a:spcPts val="400"/>
              </a:spcAft>
              <a:buNone/>
            </a:pPr>
            <a:r>
              <a:rPr lang="en-US" sz="1800" dirty="0">
                <a:solidFill>
                  <a:srgbClr val="E3E8F2"/>
                </a:solidFill>
              </a:rPr>
              <a:t>BA Programme — Economics and Political Science</a:t>
            </a:r>
            <a:endParaRPr lang="en-US" sz="2600" dirty="0"/>
          </a:p>
          <a:p>
            <a:pPr indent="0" marL="0">
              <a:spcAft>
                <a:spcPts val="400"/>
              </a:spcAft>
              <a:buNone/>
            </a:pPr>
            <a:r>
              <a:rPr lang="en-US" sz="1800" dirty="0">
                <a:solidFill>
                  <a:srgbClr val="E3E8F2"/>
                </a:solidFill>
              </a:rPr>
              <a:t>Presentation topic: Diversity</a:t>
            </a:r>
            <a:endParaRPr lang="en-US" sz="2600" dirty="0"/>
          </a:p>
        </p:txBody>
      </p:sp>
      <p:sp>
        <p:nvSpPr>
          <p:cNvPr id="9" name="Photo credits"/>
          <p:cNvSpPr txBox="1"/>
          <p:nvPr/>
        </p:nvSpPr>
        <p:spPr>
          <a:xfrm>
            <a:off x="640080" y="5989320"/>
            <a:ext cx="5943600" cy="594360"/>
          </a:xfrm>
          <a:prstGeom prst="rect">
            <a:avLst/>
          </a:prstGeom>
          <a:noFill/>
          <a:ln/>
        </p:spPr>
        <p:txBody>
          <a:bodyPr wrap="square" lIns="0" tIns="0" rIns="0" bIns="0" rtlCol="0" anchor="t"/>
          <a:lstStyle/>
          <a:p>
            <a:pPr indent="0" marL="0">
              <a:buNone/>
            </a:pPr>
            <a:r>
              <a:rPr lang="en-US" sz="1000" dirty="0">
                <a:solidFill>
                  <a:srgbClr val="AEB8CC"/>
                </a:solidFill>
              </a:rPr>
              <a:t>Photos (Wikimedia Commons): Hornbill Festival, Nagaland — Vikramjit Kakati, CC BY-SA 4.0; Pongal kolam — Priyadharshini Mohanraj, CC BY-SA 4.0; Magh Bihu, Assam — Nilotpal Hazarika, CC BY-SA 4.0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is diversity?</a:t>
            </a:r>
            <a:endParaRPr lang="en-US" sz="3200" dirty="0"/>
          </a:p>
        </p:txBody>
      </p:sp>
      <p:sp>
        <p:nvSpPr>
          <p:cNvPr id="3" name="Definition card"/>
          <p:cNvSpPr/>
          <p:nvPr/>
        </p:nvSpPr>
        <p:spPr>
          <a:xfrm>
            <a:off x="548640" y="1325880"/>
            <a:ext cx="4572000" cy="2423160"/>
          </a:xfrm>
          <a:prstGeom prst="roundRect">
            <a:avLst>
              <a:gd name="adj" fmla="val 3774"/>
            </a:avLst>
          </a:prstGeom>
          <a:solidFill>
            <a:srgbClr val="FFFFFF"/>
          </a:solidFill>
          <a:ln w="12700">
            <a:solidFill>
              <a:srgbClr val="E2D8C3"/>
            </a:solidFill>
            <a:prstDash val="solid"/>
          </a:ln>
        </p:spPr>
      </p:sp>
      <p:sp>
        <p:nvSpPr>
          <p:cNvPr id="4" name="Definition quote"/>
          <p:cNvSpPr txBox="1"/>
          <p:nvPr/>
        </p:nvSpPr>
        <p:spPr>
          <a:xfrm>
            <a:off x="777240" y="1481328"/>
            <a:ext cx="4160520" cy="1691640"/>
          </a:xfrm>
          <a:prstGeom prst="rect">
            <a:avLst/>
          </a:prstGeom>
          <a:noFill/>
          <a:ln/>
        </p:spPr>
        <p:txBody>
          <a:bodyPr wrap="square" lIns="0" tIns="0" rIns="0" bIns="0" rtlCol="0" anchor="t"/>
          <a:lstStyle/>
          <a:p>
            <a:pPr indent="0" marL="0">
              <a:buNone/>
            </a:pPr>
            <a:r>
              <a:rPr lang="en-US" sz="2100" i="1" dirty="0">
                <a:solidFill>
                  <a:srgbClr val="1F2F4F"/>
                </a:solidFill>
                <a:latin typeface="Cambria" pitchFamily="34" charset="0"/>
                <a:ea typeface="Cambria" pitchFamily="34" charset="-122"/>
                <a:cs typeface="Cambria" pitchFamily="34" charset="-120"/>
              </a:rPr>
              <a:t>“The existence of a broad variety of unique individuals, objects, or social constructs within a given group or civilisation.”</a:t>
            </a:r>
            <a:endParaRPr lang="en-US" sz="2100" dirty="0"/>
          </a:p>
        </p:txBody>
      </p:sp>
      <p:sp>
        <p:nvSpPr>
          <p:cNvPr id="5" name="Definition source"/>
          <p:cNvSpPr txBox="1"/>
          <p:nvPr/>
        </p:nvSpPr>
        <p:spPr>
          <a:xfrm>
            <a:off x="777240" y="3291840"/>
            <a:ext cx="4114800" cy="320040"/>
          </a:xfrm>
          <a:prstGeom prst="rect">
            <a:avLst/>
          </a:prstGeom>
          <a:noFill/>
          <a:ln/>
        </p:spPr>
        <p:txBody>
          <a:bodyPr wrap="square" lIns="0" tIns="0" rIns="0" bIns="0" rtlCol="0" anchor="t"/>
          <a:lstStyle/>
          <a:p>
            <a:pPr indent="0" marL="0">
              <a:buNone/>
            </a:pPr>
            <a:r>
              <a:rPr lang="en-US" sz="1300" dirty="0">
                <a:solidFill>
                  <a:srgbClr val="5E6673"/>
                </a:solidFill>
              </a:rPr>
              <a:t>— Textbook definition, p. 72</a:t>
            </a:r>
            <a:endParaRPr lang="en-US" sz="1300" dirty="0"/>
          </a:p>
        </p:txBody>
      </p:sp>
      <p:sp>
        <p:nvSpPr>
          <p:cNvPr id="6" name="Recognise vs include"/>
          <p:cNvSpPr txBox="1"/>
          <p:nvPr/>
        </p:nvSpPr>
        <p:spPr>
          <a:xfrm>
            <a:off x="548640" y="3931920"/>
            <a:ext cx="4572000" cy="2057400"/>
          </a:xfrm>
          <a:prstGeom prst="rect">
            <a:avLst/>
          </a:prstGeom>
          <a:noFill/>
          <a:ln/>
        </p:spPr>
        <p:txBody>
          <a:bodyPr wrap="square" lIns="0" tIns="0" rIns="0" bIns="0" rtlCol="0" anchor="t"/>
          <a:lstStyle/>
          <a:p>
            <a:pPr indent="0" marL="0">
              <a:spcAft>
                <a:spcPts val="300"/>
              </a:spcAft>
              <a:buNone/>
            </a:pPr>
            <a:r>
              <a:rPr lang="en-US" sz="1800" b="1" dirty="0">
                <a:solidFill>
                  <a:srgbClr val="1E5A43"/>
                </a:solidFill>
              </a:rPr>
              <a:t>Recognising diversity</a:t>
            </a:r>
            <a:endParaRPr lang="en-US" sz="1800" dirty="0"/>
          </a:p>
          <a:p>
            <a:pPr indent="0" marL="0">
              <a:spcAft>
                <a:spcPts val="300"/>
              </a:spcAft>
              <a:buNone/>
            </a:pPr>
            <a:r>
              <a:rPr lang="en-US" sz="1800" dirty="0">
                <a:solidFill>
                  <a:srgbClr val="1E2533"/>
                </a:solidFill>
              </a:rPr>
              <a:t>Noticing that people differ.</a:t>
            </a:r>
            <a:endParaRPr lang="en-US" sz="1800" dirty="0"/>
          </a:p>
          <a:p>
            <a:pPr indent="0" marL="0">
              <a:spcAft>
                <a:spcPts val="300"/>
              </a:spcAft>
              <a:buNone/>
            </a:pPr>
            <a:r>
              <a:rPr lang="en-US" sz="1800" b="1" dirty="0">
                <a:solidFill>
                  <a:srgbClr val="8F5216"/>
                </a:solidFill>
              </a:rPr>
              <a:t>Including diversity</a:t>
            </a:r>
            <a:endParaRPr lang="en-US" sz="1800" dirty="0"/>
          </a:p>
          <a:p>
            <a:pPr indent="0" marL="0">
              <a:spcAft>
                <a:spcPts val="300"/>
              </a:spcAft>
              <a:buNone/>
            </a:pPr>
            <a:r>
              <a:rPr lang="en-US" sz="1800" dirty="0">
                <a:solidFill>
                  <a:srgbClr val="1E2533"/>
                </a:solidFill>
              </a:rPr>
              <a:t>Making sure people from every background can take part, be heard and reach opportunities.</a:t>
            </a:r>
            <a:endParaRPr lang="en-US" sz="1800" dirty="0"/>
          </a:p>
        </p:txBody>
      </p:sp>
      <p:sp>
        <p:nvSpPr>
          <p:cNvPr id="7" name="Spoke 1"/>
          <p:cNvSpPr/>
          <p:nvPr/>
        </p:nvSpPr>
        <p:spPr>
          <a:xfrm flipH="1">
            <a:off x="8549640" y="1600200"/>
            <a:ext cx="0" cy="2029968"/>
          </a:xfrm>
          <a:prstGeom prst="line">
            <a:avLst/>
          </a:prstGeom>
          <a:noFill/>
          <a:ln w="19050">
            <a:solidFill>
              <a:srgbClr val="A8C3B4"/>
            </a:solidFill>
            <a:prstDash val="solid"/>
          </a:ln>
        </p:spPr>
      </p:sp>
      <p:sp>
        <p:nvSpPr>
          <p:cNvPr id="8" name="Spoke 2"/>
          <p:cNvSpPr/>
          <p:nvPr/>
        </p:nvSpPr>
        <p:spPr>
          <a:xfrm flipH="1">
            <a:off x="8549640" y="2441448"/>
            <a:ext cx="1965960" cy="1188720"/>
          </a:xfrm>
          <a:prstGeom prst="line">
            <a:avLst/>
          </a:prstGeom>
          <a:noFill/>
          <a:ln w="19050">
            <a:solidFill>
              <a:srgbClr val="A8C3B4"/>
            </a:solidFill>
            <a:prstDash val="solid"/>
          </a:ln>
        </p:spPr>
      </p:sp>
      <p:sp>
        <p:nvSpPr>
          <p:cNvPr id="9" name="Spoke 3"/>
          <p:cNvSpPr/>
          <p:nvPr/>
        </p:nvSpPr>
        <p:spPr>
          <a:xfrm>
            <a:off x="8549640" y="3630168"/>
            <a:ext cx="2194560" cy="0"/>
          </a:xfrm>
          <a:prstGeom prst="line">
            <a:avLst/>
          </a:prstGeom>
          <a:noFill/>
          <a:ln w="19050">
            <a:solidFill>
              <a:srgbClr val="A8C3B4"/>
            </a:solidFill>
            <a:prstDash val="solid"/>
          </a:ln>
        </p:spPr>
      </p:sp>
      <p:sp>
        <p:nvSpPr>
          <p:cNvPr id="10" name="Spoke 4"/>
          <p:cNvSpPr/>
          <p:nvPr/>
        </p:nvSpPr>
        <p:spPr>
          <a:xfrm>
            <a:off x="8549640" y="3630168"/>
            <a:ext cx="1965960" cy="1188720"/>
          </a:xfrm>
          <a:prstGeom prst="line">
            <a:avLst/>
          </a:prstGeom>
          <a:noFill/>
          <a:ln w="19050">
            <a:solidFill>
              <a:srgbClr val="A8C3B4"/>
            </a:solidFill>
            <a:prstDash val="solid"/>
          </a:ln>
        </p:spPr>
      </p:sp>
      <p:sp>
        <p:nvSpPr>
          <p:cNvPr id="11" name="Spoke 5"/>
          <p:cNvSpPr/>
          <p:nvPr/>
        </p:nvSpPr>
        <p:spPr>
          <a:xfrm>
            <a:off x="8549640" y="3630168"/>
            <a:ext cx="0" cy="2029968"/>
          </a:xfrm>
          <a:prstGeom prst="line">
            <a:avLst/>
          </a:prstGeom>
          <a:noFill/>
          <a:ln w="19050">
            <a:solidFill>
              <a:srgbClr val="A8C3B4"/>
            </a:solidFill>
            <a:prstDash val="solid"/>
          </a:ln>
        </p:spPr>
      </p:sp>
      <p:sp>
        <p:nvSpPr>
          <p:cNvPr id="12" name="Spoke 6"/>
          <p:cNvSpPr/>
          <p:nvPr/>
        </p:nvSpPr>
        <p:spPr>
          <a:xfrm flipH="1">
            <a:off x="6583680" y="3630168"/>
            <a:ext cx="1965960" cy="1188720"/>
          </a:xfrm>
          <a:prstGeom prst="line">
            <a:avLst/>
          </a:prstGeom>
          <a:noFill/>
          <a:ln w="19050">
            <a:solidFill>
              <a:srgbClr val="A8C3B4"/>
            </a:solidFill>
            <a:prstDash val="solid"/>
          </a:ln>
        </p:spPr>
      </p:sp>
      <p:sp>
        <p:nvSpPr>
          <p:cNvPr id="13" name="Spoke 7"/>
          <p:cNvSpPr/>
          <p:nvPr/>
        </p:nvSpPr>
        <p:spPr>
          <a:xfrm flipH="1">
            <a:off x="6355080" y="3630168"/>
            <a:ext cx="2194560" cy="0"/>
          </a:xfrm>
          <a:prstGeom prst="line">
            <a:avLst/>
          </a:prstGeom>
          <a:noFill/>
          <a:ln w="19050">
            <a:solidFill>
              <a:srgbClr val="A8C3B4"/>
            </a:solidFill>
            <a:prstDash val="solid"/>
          </a:ln>
        </p:spPr>
      </p:sp>
      <p:sp>
        <p:nvSpPr>
          <p:cNvPr id="14" name="Spoke 8"/>
          <p:cNvSpPr/>
          <p:nvPr/>
        </p:nvSpPr>
        <p:spPr>
          <a:xfrm>
            <a:off x="6583680" y="2441448"/>
            <a:ext cx="1965960" cy="1188720"/>
          </a:xfrm>
          <a:prstGeom prst="line">
            <a:avLst/>
          </a:prstGeom>
          <a:noFill/>
          <a:ln w="19050">
            <a:solidFill>
              <a:srgbClr val="A8C3B4"/>
            </a:solidFill>
            <a:prstDash val="solid"/>
          </a:ln>
        </p:spPr>
      </p:sp>
      <p:sp>
        <p:nvSpPr>
          <p:cNvPr id="15" name="Hub"/>
          <p:cNvSpPr/>
          <p:nvPr/>
        </p:nvSpPr>
        <p:spPr>
          <a:xfrm>
            <a:off x="7680960" y="2761488"/>
            <a:ext cx="1737360" cy="1737360"/>
          </a:xfrm>
          <a:prstGeom prst="ellipse">
            <a:avLst/>
          </a:prstGeom>
          <a:solidFill>
            <a:srgbClr val="1F2F4F"/>
          </a:solidFill>
          <a:ln w="12700">
            <a:solidFill>
              <a:srgbClr val="1F2F4F"/>
            </a:solidFill>
            <a:prstDash val="solid"/>
          </a:ln>
        </p:spPr>
      </p:sp>
      <p:sp>
        <p:nvSpPr>
          <p:cNvPr id="16" name="Hub label"/>
          <p:cNvSpPr txBox="1"/>
          <p:nvPr/>
        </p:nvSpPr>
        <p:spPr>
          <a:xfrm>
            <a:off x="7772400" y="3172968"/>
            <a:ext cx="1554480" cy="914400"/>
          </a:xfrm>
          <a:prstGeom prst="rect">
            <a:avLst/>
          </a:prstGeom>
          <a:noFill/>
          <a:ln/>
        </p:spPr>
        <p:txBody>
          <a:bodyPr wrap="square" lIns="0" tIns="0" rIns="0" bIns="0" rtlCol="0" anchor="ctr"/>
          <a:lstStyle/>
          <a:p>
            <a:pPr algn="ctr" indent="0" marL="0">
              <a:buNone/>
            </a:pPr>
            <a:r>
              <a:rPr lang="en-US" sz="1600" b="1" dirty="0">
                <a:solidFill>
                  <a:srgbClr val="FFFFFF"/>
                </a:solidFill>
              </a:rPr>
              <a:t>Dimensions of diversity</a:t>
            </a:r>
            <a:endParaRPr lang="en-US" sz="1600" dirty="0"/>
          </a:p>
        </p:txBody>
      </p:sp>
      <p:sp>
        <p:nvSpPr>
          <p:cNvPr id="17" name="Dimension chip 1"/>
          <p:cNvSpPr/>
          <p:nvPr/>
        </p:nvSpPr>
        <p:spPr>
          <a:xfrm>
            <a:off x="7612380" y="1271016"/>
            <a:ext cx="1874520" cy="658368"/>
          </a:xfrm>
          <a:prstGeom prst="roundRect">
            <a:avLst>
              <a:gd name="adj" fmla="val 41667"/>
            </a:avLst>
          </a:prstGeom>
          <a:solidFill>
            <a:srgbClr val="E3EEE7"/>
          </a:solidFill>
          <a:ln w="12700">
            <a:solidFill>
              <a:srgbClr val="BFD6C8"/>
            </a:solidFill>
            <a:prstDash val="solid"/>
          </a:ln>
        </p:spPr>
      </p:sp>
      <p:sp>
        <p:nvSpPr>
          <p:cNvPr id="18" name="Dimension 1"/>
          <p:cNvSpPr txBox="1"/>
          <p:nvPr/>
        </p:nvSpPr>
        <p:spPr>
          <a:xfrm>
            <a:off x="7658100" y="1271016"/>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Socio-economic class</a:t>
            </a:r>
            <a:endParaRPr lang="en-US" sz="1500" dirty="0"/>
          </a:p>
        </p:txBody>
      </p:sp>
      <p:sp>
        <p:nvSpPr>
          <p:cNvPr id="19" name="Dimension chip 2"/>
          <p:cNvSpPr/>
          <p:nvPr/>
        </p:nvSpPr>
        <p:spPr>
          <a:xfrm>
            <a:off x="9578340" y="2112264"/>
            <a:ext cx="1874520" cy="658368"/>
          </a:xfrm>
          <a:prstGeom prst="roundRect">
            <a:avLst>
              <a:gd name="adj" fmla="val 41667"/>
            </a:avLst>
          </a:prstGeom>
          <a:solidFill>
            <a:srgbClr val="F8EBDD"/>
          </a:solidFill>
          <a:ln w="12700">
            <a:solidFill>
              <a:srgbClr val="E5C9A8"/>
            </a:solidFill>
            <a:prstDash val="solid"/>
          </a:ln>
        </p:spPr>
      </p:sp>
      <p:sp>
        <p:nvSpPr>
          <p:cNvPr id="20" name="Dimension 2"/>
          <p:cNvSpPr txBox="1"/>
          <p:nvPr/>
        </p:nvSpPr>
        <p:spPr>
          <a:xfrm>
            <a:off x="9624060" y="211226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Gender &amp; gender identity</a:t>
            </a:r>
            <a:endParaRPr lang="en-US" sz="1500" dirty="0"/>
          </a:p>
        </p:txBody>
      </p:sp>
      <p:sp>
        <p:nvSpPr>
          <p:cNvPr id="21" name="Dimension chip 3"/>
          <p:cNvSpPr/>
          <p:nvPr/>
        </p:nvSpPr>
        <p:spPr>
          <a:xfrm>
            <a:off x="9806940" y="3300984"/>
            <a:ext cx="1874520" cy="658368"/>
          </a:xfrm>
          <a:prstGeom prst="roundRect">
            <a:avLst>
              <a:gd name="adj" fmla="val 41667"/>
            </a:avLst>
          </a:prstGeom>
          <a:solidFill>
            <a:srgbClr val="E3EEE7"/>
          </a:solidFill>
          <a:ln w="12700">
            <a:solidFill>
              <a:srgbClr val="BFD6C8"/>
            </a:solidFill>
            <a:prstDash val="solid"/>
          </a:ln>
        </p:spPr>
      </p:sp>
      <p:sp>
        <p:nvSpPr>
          <p:cNvPr id="22" name="Dimension 3"/>
          <p:cNvSpPr txBox="1"/>
          <p:nvPr/>
        </p:nvSpPr>
        <p:spPr>
          <a:xfrm>
            <a:off x="9852660" y="330098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Sexual orientation</a:t>
            </a:r>
            <a:endParaRPr lang="en-US" sz="1500" dirty="0"/>
          </a:p>
        </p:txBody>
      </p:sp>
      <p:sp>
        <p:nvSpPr>
          <p:cNvPr id="23" name="Dimension chip 4"/>
          <p:cNvSpPr/>
          <p:nvPr/>
        </p:nvSpPr>
        <p:spPr>
          <a:xfrm>
            <a:off x="9578340" y="4489704"/>
            <a:ext cx="1874520" cy="658368"/>
          </a:xfrm>
          <a:prstGeom prst="roundRect">
            <a:avLst>
              <a:gd name="adj" fmla="val 41667"/>
            </a:avLst>
          </a:prstGeom>
          <a:solidFill>
            <a:srgbClr val="F8EBDD"/>
          </a:solidFill>
          <a:ln w="12700">
            <a:solidFill>
              <a:srgbClr val="E5C9A8"/>
            </a:solidFill>
            <a:prstDash val="solid"/>
          </a:ln>
        </p:spPr>
      </p:sp>
      <p:sp>
        <p:nvSpPr>
          <p:cNvPr id="24" name="Dimension 4"/>
          <p:cNvSpPr txBox="1"/>
          <p:nvPr/>
        </p:nvSpPr>
        <p:spPr>
          <a:xfrm>
            <a:off x="9624060" y="448970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Age</a:t>
            </a:r>
            <a:endParaRPr lang="en-US" sz="1500" dirty="0"/>
          </a:p>
        </p:txBody>
      </p:sp>
      <p:sp>
        <p:nvSpPr>
          <p:cNvPr id="25" name="Dimension chip 5"/>
          <p:cNvSpPr/>
          <p:nvPr/>
        </p:nvSpPr>
        <p:spPr>
          <a:xfrm>
            <a:off x="7612380" y="5330952"/>
            <a:ext cx="1874520" cy="658368"/>
          </a:xfrm>
          <a:prstGeom prst="roundRect">
            <a:avLst>
              <a:gd name="adj" fmla="val 41667"/>
            </a:avLst>
          </a:prstGeom>
          <a:solidFill>
            <a:srgbClr val="E3EEE7"/>
          </a:solidFill>
          <a:ln w="12700">
            <a:solidFill>
              <a:srgbClr val="BFD6C8"/>
            </a:solidFill>
            <a:prstDash val="solid"/>
          </a:ln>
        </p:spPr>
      </p:sp>
      <p:sp>
        <p:nvSpPr>
          <p:cNvPr id="26" name="Dimension 5"/>
          <p:cNvSpPr txBox="1"/>
          <p:nvPr/>
        </p:nvSpPr>
        <p:spPr>
          <a:xfrm>
            <a:off x="7658100" y="5330952"/>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Religion</a:t>
            </a:r>
            <a:endParaRPr lang="en-US" sz="1500" dirty="0"/>
          </a:p>
        </p:txBody>
      </p:sp>
      <p:sp>
        <p:nvSpPr>
          <p:cNvPr id="27" name="Dimension chip 6"/>
          <p:cNvSpPr/>
          <p:nvPr/>
        </p:nvSpPr>
        <p:spPr>
          <a:xfrm>
            <a:off x="5646420" y="4489704"/>
            <a:ext cx="1874520" cy="658368"/>
          </a:xfrm>
          <a:prstGeom prst="roundRect">
            <a:avLst>
              <a:gd name="adj" fmla="val 41667"/>
            </a:avLst>
          </a:prstGeom>
          <a:solidFill>
            <a:srgbClr val="F8EBDD"/>
          </a:solidFill>
          <a:ln w="12700">
            <a:solidFill>
              <a:srgbClr val="E5C9A8"/>
            </a:solidFill>
            <a:prstDash val="solid"/>
          </a:ln>
        </p:spPr>
      </p:sp>
      <p:sp>
        <p:nvSpPr>
          <p:cNvPr id="28" name="Dimension 6"/>
          <p:cNvSpPr txBox="1"/>
          <p:nvPr/>
        </p:nvSpPr>
        <p:spPr>
          <a:xfrm>
            <a:off x="5692140" y="448970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Race &amp; ethnicity</a:t>
            </a:r>
            <a:endParaRPr lang="en-US" sz="1500" dirty="0"/>
          </a:p>
        </p:txBody>
      </p:sp>
      <p:sp>
        <p:nvSpPr>
          <p:cNvPr id="29" name="Dimension chip 7"/>
          <p:cNvSpPr/>
          <p:nvPr/>
        </p:nvSpPr>
        <p:spPr>
          <a:xfrm>
            <a:off x="5417820" y="3300984"/>
            <a:ext cx="1874520" cy="658368"/>
          </a:xfrm>
          <a:prstGeom prst="roundRect">
            <a:avLst>
              <a:gd name="adj" fmla="val 41667"/>
            </a:avLst>
          </a:prstGeom>
          <a:solidFill>
            <a:srgbClr val="E3EEE7"/>
          </a:solidFill>
          <a:ln w="12700">
            <a:solidFill>
              <a:srgbClr val="BFD6C8"/>
            </a:solidFill>
            <a:prstDash val="solid"/>
          </a:ln>
        </p:spPr>
      </p:sp>
      <p:sp>
        <p:nvSpPr>
          <p:cNvPr id="30" name="Dimension 7"/>
          <p:cNvSpPr txBox="1"/>
          <p:nvPr/>
        </p:nvSpPr>
        <p:spPr>
          <a:xfrm>
            <a:off x="5463540" y="330098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Language</a:t>
            </a:r>
            <a:endParaRPr lang="en-US" sz="1500" dirty="0"/>
          </a:p>
        </p:txBody>
      </p:sp>
      <p:sp>
        <p:nvSpPr>
          <p:cNvPr id="31" name="Dimension chip 8"/>
          <p:cNvSpPr/>
          <p:nvPr/>
        </p:nvSpPr>
        <p:spPr>
          <a:xfrm>
            <a:off x="5646420" y="2112264"/>
            <a:ext cx="1874520" cy="658368"/>
          </a:xfrm>
          <a:prstGeom prst="roundRect">
            <a:avLst>
              <a:gd name="adj" fmla="val 41667"/>
            </a:avLst>
          </a:prstGeom>
          <a:solidFill>
            <a:srgbClr val="F8EBDD"/>
          </a:solidFill>
          <a:ln w="12700">
            <a:solidFill>
              <a:srgbClr val="E5C9A8"/>
            </a:solidFill>
            <a:prstDash val="solid"/>
          </a:ln>
        </p:spPr>
      </p:sp>
      <p:sp>
        <p:nvSpPr>
          <p:cNvPr id="32" name="Dimension 8"/>
          <p:cNvSpPr txBox="1"/>
          <p:nvPr/>
        </p:nvSpPr>
        <p:spPr>
          <a:xfrm>
            <a:off x="5692140" y="2112264"/>
            <a:ext cx="1783080" cy="658368"/>
          </a:xfrm>
          <a:prstGeom prst="rect">
            <a:avLst/>
          </a:prstGeom>
          <a:noFill/>
          <a:ln/>
        </p:spPr>
        <p:txBody>
          <a:bodyPr wrap="square" lIns="0" tIns="0" rIns="0" bIns="0" rtlCol="0" anchor="ctr"/>
          <a:lstStyle/>
          <a:p>
            <a:pPr algn="ctr" indent="0" marL="0">
              <a:buNone/>
            </a:pPr>
            <a:r>
              <a:rPr lang="en-US" sz="1500" b="1" dirty="0">
                <a:solidFill>
                  <a:srgbClr val="1F2F4F"/>
                </a:solidFill>
              </a:rPr>
              <a:t>Culture &amp; region</a:t>
            </a:r>
            <a:endParaRPr lang="en-US" sz="1500" dirty="0"/>
          </a:p>
        </p:txBody>
      </p:sp>
      <p:sp>
        <p:nvSpPr>
          <p:cNvPr id="33"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 Textbook (Batham, 2023), pp. 72–74. The dimensions shown are those the textbook names.</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diversity matters in a democracy</a:t>
            </a:r>
            <a:endParaRPr lang="en-US" sz="3200" dirty="0"/>
          </a:p>
        </p:txBody>
      </p:sp>
      <p:sp>
        <p:nvSpPr>
          <p:cNvPr id="3" name="Representation card"/>
          <p:cNvSpPr/>
          <p:nvPr/>
        </p:nvSpPr>
        <p:spPr>
          <a:xfrm>
            <a:off x="548640" y="1325880"/>
            <a:ext cx="2606040" cy="3429000"/>
          </a:xfrm>
          <a:prstGeom prst="roundRect">
            <a:avLst>
              <a:gd name="adj" fmla="val 3509"/>
            </a:avLst>
          </a:prstGeom>
          <a:solidFill>
            <a:srgbClr val="FFFFFF"/>
          </a:solidFill>
          <a:ln w="12700">
            <a:solidFill>
              <a:srgbClr val="E2D8C3"/>
            </a:solidFill>
            <a:prstDash val="solid"/>
          </a:ln>
        </p:spPr>
      </p:sp>
      <p:sp>
        <p:nvSpPr>
          <p:cNvPr id="4" name="Representation circle"/>
          <p:cNvSpPr/>
          <p:nvPr/>
        </p:nvSpPr>
        <p:spPr>
          <a:xfrm>
            <a:off x="777240" y="1554480"/>
            <a:ext cx="685800" cy="685800"/>
          </a:xfrm>
          <a:prstGeom prst="ellipse">
            <a:avLst/>
          </a:prstGeom>
          <a:solidFill>
            <a:srgbClr val="1E5A43"/>
          </a:solidFill>
          <a:ln w="12700">
            <a:solidFill>
              <a:srgbClr val="1E5A43"/>
            </a:solidFill>
            <a:prstDash val="solid"/>
          </a:ln>
        </p:spPr>
      </p:sp>
      <p:pic>
        <p:nvPicPr>
          <p:cNvPr id="5" name="Representation icon" descr="preencoded.png">    </p:cNvPr>
          <p:cNvPicPr>
            <a:picLocks noChangeAspect="1"/>
          </p:cNvPicPr>
          <p:nvPr/>
        </p:nvPicPr>
        <p:blipFill>
          <a:blip r:embed="rId1"/>
          <a:stretch>
            <a:fillRect/>
          </a:stretch>
        </p:blipFill>
        <p:spPr>
          <a:xfrm>
            <a:off x="941832" y="1719072"/>
            <a:ext cx="356616" cy="356616"/>
          </a:xfrm>
          <a:prstGeom prst="rect">
            <a:avLst/>
          </a:prstGeom>
        </p:spPr>
      </p:pic>
      <p:sp>
        <p:nvSpPr>
          <p:cNvPr id="6" name="Representation heading"/>
          <p:cNvSpPr txBox="1"/>
          <p:nvPr/>
        </p:nvSpPr>
        <p:spPr>
          <a:xfrm>
            <a:off x="777240" y="2377440"/>
            <a:ext cx="2194560" cy="685800"/>
          </a:xfrm>
          <a:prstGeom prst="rect">
            <a:avLst/>
          </a:prstGeom>
          <a:noFill/>
          <a:ln/>
        </p:spPr>
        <p:txBody>
          <a:bodyPr wrap="square" lIns="0" tIns="0" rIns="0" bIns="0" rtlCol="0" anchor="b"/>
          <a:lstStyle/>
          <a:p>
            <a:pPr indent="0" marL="0">
              <a:buNone/>
            </a:pPr>
            <a:r>
              <a:rPr lang="en-US" sz="2000" b="1" dirty="0">
                <a:solidFill>
                  <a:srgbClr val="1F2F4F"/>
                </a:solidFill>
                <a:latin typeface="Cambria" pitchFamily="34" charset="0"/>
                <a:ea typeface="Cambria" pitchFamily="34" charset="-122"/>
                <a:cs typeface="Cambria" pitchFamily="34" charset="-120"/>
              </a:rPr>
              <a:t>Representation</a:t>
            </a:r>
            <a:endParaRPr lang="en-US" sz="2000" dirty="0"/>
          </a:p>
        </p:txBody>
      </p:sp>
      <p:sp>
        <p:nvSpPr>
          <p:cNvPr id="7" name="Representation text"/>
          <p:cNvSpPr txBox="1"/>
          <p:nvPr/>
        </p:nvSpPr>
        <p:spPr>
          <a:xfrm>
            <a:off x="777240" y="3154680"/>
            <a:ext cx="2194560" cy="1508760"/>
          </a:xfrm>
          <a:prstGeom prst="rect">
            <a:avLst/>
          </a:prstGeom>
          <a:noFill/>
          <a:ln/>
        </p:spPr>
        <p:txBody>
          <a:bodyPr wrap="square" lIns="0" tIns="0" rIns="0" bIns="0" rtlCol="0" anchor="t"/>
          <a:lstStyle/>
          <a:p>
            <a:pPr indent="0" marL="0">
              <a:buNone/>
            </a:pPr>
            <a:r>
              <a:rPr lang="en-US" sz="1700" dirty="0">
                <a:solidFill>
                  <a:srgbClr val="1E2533"/>
                </a:solidFill>
              </a:rPr>
              <a:t>A diverse society can reflect the views and interests of all its people, not just a small segment.</a:t>
            </a:r>
            <a:endParaRPr lang="en-US" sz="1700" dirty="0"/>
          </a:p>
        </p:txBody>
      </p:sp>
      <p:sp>
        <p:nvSpPr>
          <p:cNvPr id="8" name="Equity card"/>
          <p:cNvSpPr/>
          <p:nvPr/>
        </p:nvSpPr>
        <p:spPr>
          <a:xfrm>
            <a:off x="3383280" y="1325880"/>
            <a:ext cx="2606040" cy="3429000"/>
          </a:xfrm>
          <a:prstGeom prst="roundRect">
            <a:avLst>
              <a:gd name="adj" fmla="val 3509"/>
            </a:avLst>
          </a:prstGeom>
          <a:solidFill>
            <a:srgbClr val="FFFFFF"/>
          </a:solidFill>
          <a:ln w="12700">
            <a:solidFill>
              <a:srgbClr val="E2D8C3"/>
            </a:solidFill>
            <a:prstDash val="solid"/>
          </a:ln>
        </p:spPr>
      </p:sp>
      <p:sp>
        <p:nvSpPr>
          <p:cNvPr id="9" name="Equity circle"/>
          <p:cNvSpPr/>
          <p:nvPr/>
        </p:nvSpPr>
        <p:spPr>
          <a:xfrm>
            <a:off x="3611880" y="1554480"/>
            <a:ext cx="685800" cy="685800"/>
          </a:xfrm>
          <a:prstGeom prst="ellipse">
            <a:avLst/>
          </a:prstGeom>
          <a:solidFill>
            <a:srgbClr val="C8792A"/>
          </a:solidFill>
          <a:ln w="12700">
            <a:solidFill>
              <a:srgbClr val="C8792A"/>
            </a:solidFill>
            <a:prstDash val="solid"/>
          </a:ln>
        </p:spPr>
      </p:sp>
      <p:pic>
        <p:nvPicPr>
          <p:cNvPr id="10" name="Equity icon" descr="preencoded.png">    </p:cNvPr>
          <p:cNvPicPr>
            <a:picLocks noChangeAspect="1"/>
          </p:cNvPicPr>
          <p:nvPr/>
        </p:nvPicPr>
        <p:blipFill>
          <a:blip r:embed="rId2"/>
          <a:stretch>
            <a:fillRect/>
          </a:stretch>
        </p:blipFill>
        <p:spPr>
          <a:xfrm>
            <a:off x="3776472" y="1719072"/>
            <a:ext cx="356616" cy="356616"/>
          </a:xfrm>
          <a:prstGeom prst="rect">
            <a:avLst/>
          </a:prstGeom>
        </p:spPr>
      </p:pic>
      <p:sp>
        <p:nvSpPr>
          <p:cNvPr id="11" name="Equity heading"/>
          <p:cNvSpPr txBox="1"/>
          <p:nvPr/>
        </p:nvSpPr>
        <p:spPr>
          <a:xfrm>
            <a:off x="3611880" y="2377440"/>
            <a:ext cx="2194560" cy="685800"/>
          </a:xfrm>
          <a:prstGeom prst="rect">
            <a:avLst/>
          </a:prstGeom>
          <a:noFill/>
          <a:ln/>
        </p:spPr>
        <p:txBody>
          <a:bodyPr wrap="square" lIns="0" tIns="0" rIns="0" bIns="0" rtlCol="0" anchor="b"/>
          <a:lstStyle/>
          <a:p>
            <a:pPr indent="0" marL="0">
              <a:buNone/>
            </a:pPr>
            <a:r>
              <a:rPr lang="en-US" sz="2000" b="1" dirty="0">
                <a:solidFill>
                  <a:srgbClr val="1F2F4F"/>
                </a:solidFill>
                <a:latin typeface="Cambria" pitchFamily="34" charset="0"/>
                <a:ea typeface="Cambria" pitchFamily="34" charset="-122"/>
                <a:cs typeface="Cambria" pitchFamily="34" charset="-120"/>
              </a:rPr>
              <a:t>Equity</a:t>
            </a:r>
            <a:endParaRPr lang="en-US" sz="2000" dirty="0"/>
          </a:p>
        </p:txBody>
      </p:sp>
      <p:sp>
        <p:nvSpPr>
          <p:cNvPr id="12" name="Equity text"/>
          <p:cNvSpPr txBox="1"/>
          <p:nvPr/>
        </p:nvSpPr>
        <p:spPr>
          <a:xfrm>
            <a:off x="3611880" y="3154680"/>
            <a:ext cx="2194560" cy="1508760"/>
          </a:xfrm>
          <a:prstGeom prst="rect">
            <a:avLst/>
          </a:prstGeom>
          <a:noFill/>
          <a:ln/>
        </p:spPr>
        <p:txBody>
          <a:bodyPr wrap="square" lIns="0" tIns="0" rIns="0" bIns="0" rtlCol="0" anchor="t"/>
          <a:lstStyle/>
          <a:p>
            <a:pPr indent="0" marL="0">
              <a:buNone/>
            </a:pPr>
            <a:r>
              <a:rPr lang="en-US" sz="1700" dirty="0">
                <a:solidFill>
                  <a:srgbClr val="1E2533"/>
                </a:solidFill>
              </a:rPr>
              <a:t>People of every background are more likely to get equal access to resources and opportunities.</a:t>
            </a:r>
            <a:endParaRPr lang="en-US" sz="1700" dirty="0"/>
          </a:p>
        </p:txBody>
      </p:sp>
      <p:sp>
        <p:nvSpPr>
          <p:cNvPr id="13" name="Dialogue and understanding card"/>
          <p:cNvSpPr/>
          <p:nvPr/>
        </p:nvSpPr>
        <p:spPr>
          <a:xfrm>
            <a:off x="6217920" y="1325880"/>
            <a:ext cx="2606040" cy="3429000"/>
          </a:xfrm>
          <a:prstGeom prst="roundRect">
            <a:avLst>
              <a:gd name="adj" fmla="val 3509"/>
            </a:avLst>
          </a:prstGeom>
          <a:solidFill>
            <a:srgbClr val="FFFFFF"/>
          </a:solidFill>
          <a:ln w="12700">
            <a:solidFill>
              <a:srgbClr val="E2D8C3"/>
            </a:solidFill>
            <a:prstDash val="solid"/>
          </a:ln>
        </p:spPr>
      </p:sp>
      <p:sp>
        <p:nvSpPr>
          <p:cNvPr id="14" name="Dialogue and understanding circle"/>
          <p:cNvSpPr/>
          <p:nvPr/>
        </p:nvSpPr>
        <p:spPr>
          <a:xfrm>
            <a:off x="6446520" y="1554480"/>
            <a:ext cx="685800" cy="685800"/>
          </a:xfrm>
          <a:prstGeom prst="ellipse">
            <a:avLst/>
          </a:prstGeom>
          <a:solidFill>
            <a:srgbClr val="1E5A43"/>
          </a:solidFill>
          <a:ln w="12700">
            <a:solidFill>
              <a:srgbClr val="1E5A43"/>
            </a:solidFill>
            <a:prstDash val="solid"/>
          </a:ln>
        </p:spPr>
      </p:sp>
      <p:pic>
        <p:nvPicPr>
          <p:cNvPr id="15" name="Dialogue and understanding icon" descr="preencoded.png">    </p:cNvPr>
          <p:cNvPicPr>
            <a:picLocks noChangeAspect="1"/>
          </p:cNvPicPr>
          <p:nvPr/>
        </p:nvPicPr>
        <p:blipFill>
          <a:blip r:embed="rId3"/>
          <a:stretch>
            <a:fillRect/>
          </a:stretch>
        </p:blipFill>
        <p:spPr>
          <a:xfrm>
            <a:off x="6611112" y="1719072"/>
            <a:ext cx="356616" cy="356616"/>
          </a:xfrm>
          <a:prstGeom prst="rect">
            <a:avLst/>
          </a:prstGeom>
        </p:spPr>
      </p:pic>
      <p:sp>
        <p:nvSpPr>
          <p:cNvPr id="16" name="Dialogue and understanding heading"/>
          <p:cNvSpPr txBox="1"/>
          <p:nvPr/>
        </p:nvSpPr>
        <p:spPr>
          <a:xfrm>
            <a:off x="6446520" y="2377440"/>
            <a:ext cx="2194560" cy="685800"/>
          </a:xfrm>
          <a:prstGeom prst="rect">
            <a:avLst/>
          </a:prstGeom>
          <a:noFill/>
          <a:ln/>
        </p:spPr>
        <p:txBody>
          <a:bodyPr wrap="square" lIns="0" tIns="0" rIns="0" bIns="0" rtlCol="0" anchor="b"/>
          <a:lstStyle/>
          <a:p>
            <a:pPr indent="0" marL="0">
              <a:buNone/>
            </a:pPr>
            <a:r>
              <a:rPr lang="en-US" sz="2000" b="1" dirty="0">
                <a:solidFill>
                  <a:srgbClr val="1F2F4F"/>
                </a:solidFill>
                <a:latin typeface="Cambria" pitchFamily="34" charset="0"/>
                <a:ea typeface="Cambria" pitchFamily="34" charset="-122"/>
                <a:cs typeface="Cambria" pitchFamily="34" charset="-120"/>
              </a:rPr>
              <a:t>Dialogue and understanding</a:t>
            </a:r>
            <a:endParaRPr lang="en-US" sz="2000" dirty="0"/>
          </a:p>
        </p:txBody>
      </p:sp>
      <p:sp>
        <p:nvSpPr>
          <p:cNvPr id="17" name="Dialogue and understanding text"/>
          <p:cNvSpPr txBox="1"/>
          <p:nvPr/>
        </p:nvSpPr>
        <p:spPr>
          <a:xfrm>
            <a:off x="6446520" y="3154680"/>
            <a:ext cx="2194560" cy="1508760"/>
          </a:xfrm>
          <a:prstGeom prst="rect">
            <a:avLst/>
          </a:prstGeom>
          <a:noFill/>
          <a:ln/>
        </p:spPr>
        <p:txBody>
          <a:bodyPr wrap="square" lIns="0" tIns="0" rIns="0" bIns="0" rtlCol="0" anchor="t"/>
          <a:lstStyle/>
          <a:p>
            <a:pPr indent="0" marL="0">
              <a:buNone/>
            </a:pPr>
            <a:r>
              <a:rPr lang="en-US" sz="1700" dirty="0">
                <a:solidFill>
                  <a:srgbClr val="1E2533"/>
                </a:solidFill>
              </a:rPr>
              <a:t>Contact across differences can build tolerance and reduce discrimination.</a:t>
            </a:r>
            <a:endParaRPr lang="en-US" sz="1700" dirty="0"/>
          </a:p>
        </p:txBody>
      </p:sp>
      <p:sp>
        <p:nvSpPr>
          <p:cNvPr id="18" name="Innovation and progress card"/>
          <p:cNvSpPr/>
          <p:nvPr/>
        </p:nvSpPr>
        <p:spPr>
          <a:xfrm>
            <a:off x="9052560" y="1325880"/>
            <a:ext cx="2606040" cy="3429000"/>
          </a:xfrm>
          <a:prstGeom prst="roundRect">
            <a:avLst>
              <a:gd name="adj" fmla="val 3509"/>
            </a:avLst>
          </a:prstGeom>
          <a:solidFill>
            <a:srgbClr val="FFFFFF"/>
          </a:solidFill>
          <a:ln w="12700">
            <a:solidFill>
              <a:srgbClr val="E2D8C3"/>
            </a:solidFill>
            <a:prstDash val="solid"/>
          </a:ln>
        </p:spPr>
      </p:sp>
      <p:sp>
        <p:nvSpPr>
          <p:cNvPr id="19" name="Innovation and progress circle"/>
          <p:cNvSpPr/>
          <p:nvPr/>
        </p:nvSpPr>
        <p:spPr>
          <a:xfrm>
            <a:off x="9281160" y="1554480"/>
            <a:ext cx="685800" cy="685800"/>
          </a:xfrm>
          <a:prstGeom prst="ellipse">
            <a:avLst/>
          </a:prstGeom>
          <a:solidFill>
            <a:srgbClr val="C8792A"/>
          </a:solidFill>
          <a:ln w="12700">
            <a:solidFill>
              <a:srgbClr val="C8792A"/>
            </a:solidFill>
            <a:prstDash val="solid"/>
          </a:ln>
        </p:spPr>
      </p:sp>
      <p:pic>
        <p:nvPicPr>
          <p:cNvPr id="20" name="Innovation and progress icon" descr="preencoded.png">    </p:cNvPr>
          <p:cNvPicPr>
            <a:picLocks noChangeAspect="1"/>
          </p:cNvPicPr>
          <p:nvPr/>
        </p:nvPicPr>
        <p:blipFill>
          <a:blip r:embed="rId4"/>
          <a:stretch>
            <a:fillRect/>
          </a:stretch>
        </p:blipFill>
        <p:spPr>
          <a:xfrm>
            <a:off x="9445752" y="1719072"/>
            <a:ext cx="356616" cy="356616"/>
          </a:xfrm>
          <a:prstGeom prst="rect">
            <a:avLst/>
          </a:prstGeom>
        </p:spPr>
      </p:pic>
      <p:sp>
        <p:nvSpPr>
          <p:cNvPr id="21" name="Innovation and progress heading"/>
          <p:cNvSpPr txBox="1"/>
          <p:nvPr/>
        </p:nvSpPr>
        <p:spPr>
          <a:xfrm>
            <a:off x="9281160" y="2377440"/>
            <a:ext cx="2194560" cy="685800"/>
          </a:xfrm>
          <a:prstGeom prst="rect">
            <a:avLst/>
          </a:prstGeom>
          <a:noFill/>
          <a:ln/>
        </p:spPr>
        <p:txBody>
          <a:bodyPr wrap="square" lIns="0" tIns="0" rIns="0" bIns="0" rtlCol="0" anchor="b"/>
          <a:lstStyle/>
          <a:p>
            <a:pPr indent="0" marL="0">
              <a:buNone/>
            </a:pPr>
            <a:r>
              <a:rPr lang="en-US" sz="2000" b="1" dirty="0">
                <a:solidFill>
                  <a:srgbClr val="1F2F4F"/>
                </a:solidFill>
                <a:latin typeface="Cambria" pitchFamily="34" charset="0"/>
                <a:ea typeface="Cambria" pitchFamily="34" charset="-122"/>
                <a:cs typeface="Cambria" pitchFamily="34" charset="-120"/>
              </a:rPr>
              <a:t>Innovation and progress</a:t>
            </a:r>
            <a:endParaRPr lang="en-US" sz="2000" dirty="0"/>
          </a:p>
        </p:txBody>
      </p:sp>
      <p:sp>
        <p:nvSpPr>
          <p:cNvPr id="22" name="Innovation and progress text"/>
          <p:cNvSpPr txBox="1"/>
          <p:nvPr/>
        </p:nvSpPr>
        <p:spPr>
          <a:xfrm>
            <a:off x="9281160" y="3154680"/>
            <a:ext cx="2194560" cy="1508760"/>
          </a:xfrm>
          <a:prstGeom prst="rect">
            <a:avLst/>
          </a:prstGeom>
          <a:noFill/>
          <a:ln/>
        </p:spPr>
        <p:txBody>
          <a:bodyPr wrap="square" lIns="0" tIns="0" rIns="0" bIns="0" rtlCol="0" anchor="t"/>
          <a:lstStyle/>
          <a:p>
            <a:pPr indent="0" marL="0">
              <a:buNone/>
            </a:pPr>
            <a:r>
              <a:rPr lang="en-US" sz="1700" dirty="0">
                <a:solidFill>
                  <a:srgbClr val="1E2533"/>
                </a:solidFill>
              </a:rPr>
              <a:t>Different experiences bring original ideas for solving complex problems.</a:t>
            </a:r>
            <a:endParaRPr lang="en-US" sz="1700" dirty="0"/>
          </a:p>
        </p:txBody>
      </p:sp>
      <p:sp>
        <p:nvSpPr>
          <p:cNvPr id="23" name="Key point band"/>
          <p:cNvSpPr/>
          <p:nvPr/>
        </p:nvSpPr>
        <p:spPr>
          <a:xfrm>
            <a:off x="548640" y="4937760"/>
            <a:ext cx="11064240" cy="1005840"/>
          </a:xfrm>
          <a:prstGeom prst="roundRect">
            <a:avLst>
              <a:gd name="adj" fmla="val 9091"/>
            </a:avLst>
          </a:prstGeom>
          <a:solidFill>
            <a:srgbClr val="1F2F4F"/>
          </a:solidFill>
          <a:ln w="12700">
            <a:solidFill>
              <a:srgbClr val="1F2F4F"/>
            </a:solidFill>
            <a:prstDash val="solid"/>
          </a:ln>
        </p:spPr>
      </p:sp>
      <p:sp>
        <p:nvSpPr>
          <p:cNvPr id="24" name="Key point"/>
          <p:cNvSpPr txBox="1"/>
          <p:nvPr/>
        </p:nvSpPr>
        <p:spPr>
          <a:xfrm>
            <a:off x="822960" y="5029200"/>
            <a:ext cx="10515600" cy="822960"/>
          </a:xfrm>
          <a:prstGeom prst="rect">
            <a:avLst/>
          </a:prstGeom>
          <a:noFill/>
          <a:ln/>
        </p:spPr>
        <p:txBody>
          <a:bodyPr wrap="square" lIns="0" tIns="0" rIns="0" bIns="0" rtlCol="0" anchor="ctr"/>
          <a:lstStyle/>
          <a:p>
            <a:pPr indent="0" marL="0">
              <a:buNone/>
            </a:pPr>
            <a:r>
              <a:rPr lang="en-US" sz="1800" b="1" dirty="0">
                <a:solidFill>
                  <a:srgbClr val="F2C28B"/>
                </a:solidFill>
              </a:rPr>
              <a:t>Key point: </a:t>
            </a:r>
            <a:pPr indent="0" marL="0">
              <a:buNone/>
            </a:pPr>
            <a:r>
              <a:rPr lang="en-US" sz="1800" dirty="0">
                <a:solidFill>
                  <a:srgbClr val="FFFFFF"/>
                </a:solidFill>
              </a:rPr>
              <a:t>the textbook says diverse societies are “more likely” to gain these benefits. They follow only when institutions make room for everyone — being present is not the same as being heard.</a:t>
            </a:r>
            <a:endParaRPr lang="en-US" sz="1800" dirty="0"/>
          </a:p>
        </p:txBody>
      </p:sp>
      <p:sp>
        <p:nvSpPr>
          <p:cNvPr id="25"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 Textbook (Batham, 2023), p. 73 — the four reasons are the textbook's own.</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India: a land of diversity</a:t>
            </a:r>
            <a:endParaRPr lang="en-US" sz="3200" dirty="0"/>
          </a:p>
        </p:txBody>
      </p:sp>
      <p:sp>
        <p:nvSpPr>
          <p:cNvPr id="3" name="Saying card"/>
          <p:cNvSpPr/>
          <p:nvPr/>
        </p:nvSpPr>
        <p:spPr>
          <a:xfrm>
            <a:off x="548640" y="1325880"/>
            <a:ext cx="6035040" cy="2606040"/>
          </a:xfrm>
          <a:prstGeom prst="roundRect">
            <a:avLst>
              <a:gd name="adj" fmla="val 3509"/>
            </a:avLst>
          </a:prstGeom>
          <a:solidFill>
            <a:srgbClr val="F8EBDD"/>
          </a:solidFill>
          <a:ln w="12700">
            <a:solidFill>
              <a:srgbClr val="F8EBDD"/>
            </a:solidFill>
            <a:prstDash val="solid"/>
          </a:ln>
        </p:spPr>
      </p:sp>
      <p:sp>
        <p:nvSpPr>
          <p:cNvPr id="4" name="Hindi saying"/>
          <p:cNvSpPr txBox="1"/>
          <p:nvPr/>
        </p:nvSpPr>
        <p:spPr>
          <a:xfrm>
            <a:off x="777240" y="1463040"/>
            <a:ext cx="5669280" cy="640080"/>
          </a:xfrm>
          <a:prstGeom prst="rect">
            <a:avLst/>
          </a:prstGeom>
          <a:noFill/>
          <a:ln/>
        </p:spPr>
        <p:txBody>
          <a:bodyPr wrap="square" lIns="0" tIns="0" rIns="0" bIns="0" rtlCol="0" anchor="t"/>
          <a:lstStyle/>
          <a:p>
            <a:pPr indent="0" marL="0">
              <a:buNone/>
            </a:pPr>
            <a:r>
              <a:rPr lang="en-US" sz="2400" b="1" dirty="0">
                <a:solidFill>
                  <a:srgbClr val="8F5216"/>
                </a:solidFill>
                <a:latin typeface="Nirmala UI" pitchFamily="34" charset="0"/>
                <a:ea typeface="Nirmala UI" pitchFamily="34" charset="-122"/>
                <a:cs typeface="Nirmala UI" pitchFamily="34" charset="-120"/>
              </a:rPr>
              <a:t>कोस-कोस पर बदले पानी, चार कोस पर वाणी</a:t>
            </a:r>
            <a:endParaRPr lang="en-US" sz="2400" dirty="0"/>
          </a:p>
        </p:txBody>
      </p:sp>
      <p:sp>
        <p:nvSpPr>
          <p:cNvPr id="5" name="Transliteration"/>
          <p:cNvSpPr txBox="1"/>
          <p:nvPr/>
        </p:nvSpPr>
        <p:spPr>
          <a:xfrm>
            <a:off x="777240" y="2148840"/>
            <a:ext cx="5669280" cy="365760"/>
          </a:xfrm>
          <a:prstGeom prst="rect">
            <a:avLst/>
          </a:prstGeom>
          <a:noFill/>
          <a:ln/>
        </p:spPr>
        <p:txBody>
          <a:bodyPr wrap="square" lIns="0" tIns="0" rIns="0" bIns="0" rtlCol="0" anchor="t"/>
          <a:lstStyle/>
          <a:p>
            <a:pPr indent="0" marL="0">
              <a:buNone/>
            </a:pPr>
            <a:r>
              <a:rPr lang="en-US" sz="1700" i="1" dirty="0">
                <a:solidFill>
                  <a:srgbClr val="1F2F4F"/>
                </a:solidFill>
              </a:rPr>
              <a:t>Kos-kos par badle paani, chaar kos par vaani</a:t>
            </a:r>
            <a:endParaRPr lang="en-US" sz="1700" dirty="0"/>
          </a:p>
        </p:txBody>
      </p:sp>
      <p:sp>
        <p:nvSpPr>
          <p:cNvPr id="6" name="Saying meaning"/>
          <p:cNvSpPr txBox="1"/>
          <p:nvPr/>
        </p:nvSpPr>
        <p:spPr>
          <a:xfrm>
            <a:off x="777240" y="2606040"/>
            <a:ext cx="5669280" cy="1234440"/>
          </a:xfrm>
          <a:prstGeom prst="rect">
            <a:avLst/>
          </a:prstGeom>
          <a:noFill/>
          <a:ln/>
        </p:spPr>
        <p:txBody>
          <a:bodyPr wrap="square" lIns="0" tIns="0" rIns="0" bIns="0" rtlCol="0" anchor="t"/>
          <a:lstStyle/>
          <a:p>
            <a:pPr indent="0" marL="0">
              <a:spcAft>
                <a:spcPts val="400"/>
              </a:spcAft>
              <a:buNone/>
            </a:pPr>
            <a:r>
              <a:rPr lang="en-US" sz="1600" b="1" dirty="0">
                <a:solidFill>
                  <a:srgbClr val="1E2533"/>
                </a:solidFill>
              </a:rPr>
              <a:t>“The water changes every kos; the way people speak changes every four kos.”</a:t>
            </a:r>
            <a:endParaRPr lang="en-US" sz="1600" dirty="0"/>
          </a:p>
          <a:p>
            <a:pPr indent="0" marL="0">
              <a:spcAft>
                <a:spcPts val="400"/>
              </a:spcAft>
              <a:buNone/>
            </a:pPr>
            <a:r>
              <a:rPr lang="en-US" sz="1600" dirty="0">
                <a:solidFill>
                  <a:srgbClr val="1E2533"/>
                </a:solidFill>
              </a:rPr>
              <a:t>A kos is an old unit of distance (about 2–4 km; it varied by region). The textbook calls it a unit of area.</a:t>
            </a:r>
            <a:endParaRPr lang="en-US" sz="1600" dirty="0"/>
          </a:p>
        </p:txBody>
      </p:sp>
      <p:sp>
        <p:nvSpPr>
          <p:cNvPr id="7" name="Stat card 1"/>
          <p:cNvSpPr/>
          <p:nvPr/>
        </p:nvSpPr>
        <p:spPr>
          <a:xfrm>
            <a:off x="548640" y="4114800"/>
            <a:ext cx="1901952" cy="1783080"/>
          </a:xfrm>
          <a:prstGeom prst="roundRect">
            <a:avLst>
              <a:gd name="adj" fmla="val 5128"/>
            </a:avLst>
          </a:prstGeom>
          <a:solidFill>
            <a:srgbClr val="FFFFFF"/>
          </a:solidFill>
          <a:ln w="12700">
            <a:solidFill>
              <a:srgbClr val="E2D8C3"/>
            </a:solidFill>
            <a:prstDash val="solid"/>
          </a:ln>
        </p:spPr>
      </p:sp>
      <p:sp>
        <p:nvSpPr>
          <p:cNvPr id="8" name="Stat 1"/>
          <p:cNvSpPr txBox="1"/>
          <p:nvPr/>
        </p:nvSpPr>
        <p:spPr>
          <a:xfrm>
            <a:off x="685800" y="4206240"/>
            <a:ext cx="1645920" cy="640080"/>
          </a:xfrm>
          <a:prstGeom prst="rect">
            <a:avLst/>
          </a:prstGeom>
          <a:noFill/>
          <a:ln/>
        </p:spPr>
        <p:txBody>
          <a:bodyPr wrap="square" lIns="0" tIns="0" rIns="0" bIns="0" rtlCol="0" anchor="t"/>
          <a:lstStyle/>
          <a:p>
            <a:pPr indent="0" marL="0">
              <a:buNone/>
            </a:pPr>
            <a:r>
              <a:rPr lang="en-US" sz="3200" b="1" dirty="0">
                <a:solidFill>
                  <a:srgbClr val="1E5A43"/>
                </a:solidFill>
                <a:latin typeface="Cambria" pitchFamily="34" charset="0"/>
                <a:ea typeface="Cambria" pitchFamily="34" charset="-122"/>
                <a:cs typeface="Cambria" pitchFamily="34" charset="-120"/>
              </a:rPr>
              <a:t>28 + 8</a:t>
            </a:r>
            <a:endParaRPr lang="en-US" sz="3200" dirty="0"/>
          </a:p>
        </p:txBody>
      </p:sp>
      <p:sp>
        <p:nvSpPr>
          <p:cNvPr id="9" name="Stat label 1"/>
          <p:cNvSpPr txBox="1"/>
          <p:nvPr/>
        </p:nvSpPr>
        <p:spPr>
          <a:xfrm>
            <a:off x="685800" y="4846320"/>
            <a:ext cx="1645920" cy="1005840"/>
          </a:xfrm>
          <a:prstGeom prst="rect">
            <a:avLst/>
          </a:prstGeom>
          <a:noFill/>
          <a:ln/>
        </p:spPr>
        <p:txBody>
          <a:bodyPr wrap="square" lIns="0" tIns="0" rIns="0" bIns="0" rtlCol="0" anchor="t"/>
          <a:lstStyle/>
          <a:p>
            <a:pPr indent="0" marL="0">
              <a:buNone/>
            </a:pPr>
            <a:r>
              <a:rPr lang="en-US" sz="1300" dirty="0">
                <a:solidFill>
                  <a:srgbClr val="1E2533"/>
                </a:solidFill>
              </a:rPr>
              <a:t>States and Union Territories (since 2020)</a:t>
            </a:r>
            <a:endParaRPr lang="en-US" sz="1300" dirty="0"/>
          </a:p>
        </p:txBody>
      </p:sp>
      <p:sp>
        <p:nvSpPr>
          <p:cNvPr id="10" name="Stat card 2"/>
          <p:cNvSpPr/>
          <p:nvPr/>
        </p:nvSpPr>
        <p:spPr>
          <a:xfrm>
            <a:off x="2596896" y="4114800"/>
            <a:ext cx="1901952" cy="1783080"/>
          </a:xfrm>
          <a:prstGeom prst="roundRect">
            <a:avLst>
              <a:gd name="adj" fmla="val 5128"/>
            </a:avLst>
          </a:prstGeom>
          <a:solidFill>
            <a:srgbClr val="FFFFFF"/>
          </a:solidFill>
          <a:ln w="12700">
            <a:solidFill>
              <a:srgbClr val="E2D8C3"/>
            </a:solidFill>
            <a:prstDash val="solid"/>
          </a:ln>
        </p:spPr>
      </p:sp>
      <p:sp>
        <p:nvSpPr>
          <p:cNvPr id="11" name="Stat 2"/>
          <p:cNvSpPr txBox="1"/>
          <p:nvPr/>
        </p:nvSpPr>
        <p:spPr>
          <a:xfrm>
            <a:off x="2734056" y="4206240"/>
            <a:ext cx="1645920" cy="640080"/>
          </a:xfrm>
          <a:prstGeom prst="rect">
            <a:avLst/>
          </a:prstGeom>
          <a:noFill/>
          <a:ln/>
        </p:spPr>
        <p:txBody>
          <a:bodyPr wrap="square" lIns="0" tIns="0" rIns="0" bIns="0" rtlCol="0" anchor="t"/>
          <a:lstStyle/>
          <a:p>
            <a:pPr indent="0" marL="0">
              <a:buNone/>
            </a:pPr>
            <a:r>
              <a:rPr lang="en-US" sz="3200" b="1" dirty="0">
                <a:solidFill>
                  <a:srgbClr val="1E5A43"/>
                </a:solidFill>
                <a:latin typeface="Cambria" pitchFamily="34" charset="0"/>
                <a:ea typeface="Cambria" pitchFamily="34" charset="-122"/>
                <a:cs typeface="Cambria" pitchFamily="34" charset="-120"/>
              </a:rPr>
              <a:t>22</a:t>
            </a:r>
            <a:endParaRPr lang="en-US" sz="3200" dirty="0"/>
          </a:p>
        </p:txBody>
      </p:sp>
      <p:sp>
        <p:nvSpPr>
          <p:cNvPr id="12" name="Stat label 2"/>
          <p:cNvSpPr txBox="1"/>
          <p:nvPr/>
        </p:nvSpPr>
        <p:spPr>
          <a:xfrm>
            <a:off x="2734056" y="4846320"/>
            <a:ext cx="1645920" cy="1005840"/>
          </a:xfrm>
          <a:prstGeom prst="rect">
            <a:avLst/>
          </a:prstGeom>
          <a:noFill/>
          <a:ln/>
        </p:spPr>
        <p:txBody>
          <a:bodyPr wrap="square" lIns="0" tIns="0" rIns="0" bIns="0" rtlCol="0" anchor="t"/>
          <a:lstStyle/>
          <a:p>
            <a:pPr indent="0" marL="0">
              <a:buNone/>
            </a:pPr>
            <a:r>
              <a:rPr lang="en-US" sz="1300" dirty="0">
                <a:solidFill>
                  <a:srgbClr val="1E2533"/>
                </a:solidFill>
              </a:rPr>
              <a:t>languages in the Eighth Schedule of the Constitution</a:t>
            </a:r>
            <a:endParaRPr lang="en-US" sz="1300" dirty="0"/>
          </a:p>
        </p:txBody>
      </p:sp>
      <p:sp>
        <p:nvSpPr>
          <p:cNvPr id="13" name="Stat card 3"/>
          <p:cNvSpPr/>
          <p:nvPr/>
        </p:nvSpPr>
        <p:spPr>
          <a:xfrm>
            <a:off x="4645152" y="4114800"/>
            <a:ext cx="1901952" cy="1783080"/>
          </a:xfrm>
          <a:prstGeom prst="roundRect">
            <a:avLst>
              <a:gd name="adj" fmla="val 5128"/>
            </a:avLst>
          </a:prstGeom>
          <a:solidFill>
            <a:srgbClr val="FFFFFF"/>
          </a:solidFill>
          <a:ln w="12700">
            <a:solidFill>
              <a:srgbClr val="E2D8C3"/>
            </a:solidFill>
            <a:prstDash val="solid"/>
          </a:ln>
        </p:spPr>
      </p:sp>
      <p:sp>
        <p:nvSpPr>
          <p:cNvPr id="14" name="Stat 3"/>
          <p:cNvSpPr txBox="1"/>
          <p:nvPr/>
        </p:nvSpPr>
        <p:spPr>
          <a:xfrm>
            <a:off x="4782312" y="4206240"/>
            <a:ext cx="1645920" cy="640080"/>
          </a:xfrm>
          <a:prstGeom prst="rect">
            <a:avLst/>
          </a:prstGeom>
          <a:noFill/>
          <a:ln/>
        </p:spPr>
        <p:txBody>
          <a:bodyPr wrap="square" lIns="0" tIns="0" rIns="0" bIns="0" rtlCol="0" anchor="t"/>
          <a:lstStyle/>
          <a:p>
            <a:pPr indent="0" marL="0">
              <a:buNone/>
            </a:pPr>
            <a:r>
              <a:rPr lang="en-US" sz="3200" b="1" dirty="0">
                <a:solidFill>
                  <a:srgbClr val="1E5A43"/>
                </a:solidFill>
                <a:latin typeface="Cambria" pitchFamily="34" charset="0"/>
                <a:ea typeface="Cambria" pitchFamily="34" charset="-122"/>
                <a:cs typeface="Cambria" pitchFamily="34" charset="-120"/>
              </a:rPr>
              <a:t>121</a:t>
            </a:r>
            <a:endParaRPr lang="en-US" sz="3200" dirty="0"/>
          </a:p>
        </p:txBody>
      </p:sp>
      <p:sp>
        <p:nvSpPr>
          <p:cNvPr id="15" name="Stat label 3"/>
          <p:cNvSpPr txBox="1"/>
          <p:nvPr/>
        </p:nvSpPr>
        <p:spPr>
          <a:xfrm>
            <a:off x="4782312" y="4846320"/>
            <a:ext cx="1645920" cy="1005840"/>
          </a:xfrm>
          <a:prstGeom prst="rect">
            <a:avLst/>
          </a:prstGeom>
          <a:noFill/>
          <a:ln/>
        </p:spPr>
        <p:txBody>
          <a:bodyPr wrap="square" lIns="0" tIns="0" rIns="0" bIns="0" rtlCol="0" anchor="t"/>
          <a:lstStyle/>
          <a:p>
            <a:pPr indent="0" marL="0">
              <a:buNone/>
            </a:pPr>
            <a:r>
              <a:rPr lang="en-US" sz="1300" dirty="0">
                <a:solidFill>
                  <a:srgbClr val="1E2533"/>
                </a:solidFill>
              </a:rPr>
              <a:t>languages, grouped from 19,569 mother-tongue names (Census 2011)</a:t>
            </a:r>
            <a:endParaRPr lang="en-US" sz="1300" dirty="0"/>
          </a:p>
        </p:txBody>
      </p:sp>
      <p:pic>
        <p:nvPicPr>
          <p:cNvPr id="16" name="Hornbill photo" descr="Naga dancers performing at the Hornbill Festival, Nagaland">    </p:cNvPr>
          <p:cNvPicPr>
            <a:picLocks noChangeAspect="1"/>
          </p:cNvPicPr>
          <p:nvPr/>
        </p:nvPicPr>
        <p:blipFill>
          <a:blip r:embed="rId1"/>
          <a:srcRect l="0" r="0" t="0" b="0"/>
          <a:stretch/>
        </p:blipFill>
        <p:spPr>
          <a:xfrm>
            <a:off x="6812280" y="1325880"/>
            <a:ext cx="4800600" cy="1691640"/>
          </a:xfrm>
          <a:prstGeom prst="rect">
            <a:avLst/>
          </a:prstGeom>
        </p:spPr>
      </p:pic>
      <p:sp>
        <p:nvSpPr>
          <p:cNvPr id="17" name="Photo credit"/>
          <p:cNvSpPr txBox="1"/>
          <p:nvPr/>
        </p:nvSpPr>
        <p:spPr>
          <a:xfrm>
            <a:off x="6812280" y="3044952"/>
            <a:ext cx="4800600" cy="256032"/>
          </a:xfrm>
          <a:prstGeom prst="rect">
            <a:avLst/>
          </a:prstGeom>
          <a:noFill/>
          <a:ln/>
        </p:spPr>
        <p:txBody>
          <a:bodyPr wrap="square" lIns="0" tIns="0" rIns="0" bIns="0" rtlCol="0" anchor="t"/>
          <a:lstStyle/>
          <a:p>
            <a:pPr indent="0" marL="0">
              <a:buNone/>
            </a:pPr>
            <a:r>
              <a:rPr lang="en-US" sz="1000" dirty="0">
                <a:solidFill>
                  <a:srgbClr val="5E6673"/>
                </a:solidFill>
              </a:rPr>
              <a:t>Hornbill Festival, Nagaland. Photo: Vikramjit Kakati, CC BY-SA 4.0</a:t>
            </a:r>
            <a:endParaRPr lang="en-US" sz="1000" dirty="0"/>
          </a:p>
        </p:txBody>
      </p:sp>
      <p:graphicFrame>
        <p:nvGraphicFramePr>
          <p:cNvPr id="18" name="Religion chart" descr=""/>
          <p:cNvGraphicFramePr/>
          <p:nvPr/>
        </p:nvGraphicFramePr>
        <p:xfrm>
          <a:off x="6720840" y="3337560"/>
          <a:ext cx="4983480" cy="2651760"/>
        </p:xfrm>
        <a:graphic xmlns:a="http://schemas.openxmlformats.org/drawingml/2006/main">
          <a:graphicData uri="http://schemas.openxmlformats.org/drawingml/2006/chart">
            <c:chart xmlns:c="http://schemas.openxmlformats.org/drawingml/2006/chart" r:id="rId2"/>
          </a:graphicData>
        </a:graphic>
      </p:graphicFrame>
      <p:sp>
        <p:nvSpPr>
          <p:cNvPr id="19"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 73 (saying; 28 states, 8 UTs; 22 languages; “19,500 dialects”); Census of India 2011, Language Paper 1 of 2018 and religion data (C-1). Census 2027 figures are not yet published.</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Six reasons for India's diversity</a:t>
            </a:r>
            <a:endParaRPr lang="en-US" sz="3200" dirty="0"/>
          </a:p>
        </p:txBody>
      </p:sp>
      <p:sp>
        <p:nvSpPr>
          <p:cNvPr id="3" name="Ancestry and migration tile"/>
          <p:cNvSpPr/>
          <p:nvPr/>
        </p:nvSpPr>
        <p:spPr>
          <a:xfrm>
            <a:off x="548640" y="1325880"/>
            <a:ext cx="3566160" cy="2240280"/>
          </a:xfrm>
          <a:prstGeom prst="roundRect">
            <a:avLst>
              <a:gd name="adj" fmla="val 4082"/>
            </a:avLst>
          </a:prstGeom>
          <a:solidFill>
            <a:srgbClr val="FFFFFF"/>
          </a:solidFill>
          <a:ln w="12700">
            <a:solidFill>
              <a:srgbClr val="E2D8C3"/>
            </a:solidFill>
            <a:prstDash val="solid"/>
          </a:ln>
        </p:spPr>
      </p:sp>
      <p:sp>
        <p:nvSpPr>
          <p:cNvPr id="4" name="Ancestry and migration circle"/>
          <p:cNvSpPr/>
          <p:nvPr/>
        </p:nvSpPr>
        <p:spPr>
          <a:xfrm>
            <a:off x="731520" y="1508760"/>
            <a:ext cx="566928" cy="566928"/>
          </a:xfrm>
          <a:prstGeom prst="ellipse">
            <a:avLst/>
          </a:prstGeom>
          <a:solidFill>
            <a:srgbClr val="C8792A"/>
          </a:solidFill>
          <a:ln w="12700">
            <a:solidFill>
              <a:srgbClr val="C8792A"/>
            </a:solidFill>
            <a:prstDash val="solid"/>
          </a:ln>
        </p:spPr>
      </p:sp>
      <p:pic>
        <p:nvPicPr>
          <p:cNvPr id="5" name="Ancestry and migration icon" descr="preencoded.png">    </p:cNvPr>
          <p:cNvPicPr>
            <a:picLocks noChangeAspect="1"/>
          </p:cNvPicPr>
          <p:nvPr/>
        </p:nvPicPr>
        <p:blipFill>
          <a:blip r:embed="rId1"/>
          <a:stretch>
            <a:fillRect/>
          </a:stretch>
        </p:blipFill>
        <p:spPr>
          <a:xfrm>
            <a:off x="867583" y="1644823"/>
            <a:ext cx="294803" cy="294803"/>
          </a:xfrm>
          <a:prstGeom prst="rect">
            <a:avLst/>
          </a:prstGeom>
        </p:spPr>
      </p:pic>
      <p:sp>
        <p:nvSpPr>
          <p:cNvPr id="6" name="Ancestry and migration heading"/>
          <p:cNvSpPr txBox="1"/>
          <p:nvPr/>
        </p:nvSpPr>
        <p:spPr>
          <a:xfrm>
            <a:off x="1417320" y="150876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1. Ancestry and migration</a:t>
            </a:r>
            <a:endParaRPr lang="en-US" sz="1900" dirty="0"/>
          </a:p>
        </p:txBody>
      </p:sp>
      <p:sp>
        <p:nvSpPr>
          <p:cNvPr id="7" name="Ancestry and migration text"/>
          <p:cNvSpPr txBox="1"/>
          <p:nvPr/>
        </p:nvSpPr>
        <p:spPr>
          <a:xfrm>
            <a:off x="731520" y="2167128"/>
            <a:ext cx="3200400" cy="1371600"/>
          </a:xfrm>
          <a:prstGeom prst="rect">
            <a:avLst/>
          </a:prstGeom>
          <a:noFill/>
          <a:ln/>
        </p:spPr>
        <p:txBody>
          <a:bodyPr wrap="square" lIns="0" tIns="0" rIns="0" bIns="0" rtlCol="0" anchor="t"/>
          <a:lstStyle/>
          <a:p>
            <a:pPr indent="0" marL="0">
              <a:buNone/>
            </a:pPr>
            <a:r>
              <a:rPr lang="en-US" sz="1500" dirty="0">
                <a:solidFill>
                  <a:srgbClr val="1E2533"/>
                </a:solidFill>
              </a:rPr>
              <a:t>Many waves of settlement over thousands of years. The textbook's ‘racial groups’ come from the 1931 Census, a colonial typology; genetics shows mixed ancestry, not separate races.</a:t>
            </a:r>
            <a:endParaRPr lang="en-US" sz="1500" dirty="0"/>
          </a:p>
        </p:txBody>
      </p:sp>
      <p:sp>
        <p:nvSpPr>
          <p:cNvPr id="8" name="Religion tile"/>
          <p:cNvSpPr/>
          <p:nvPr/>
        </p:nvSpPr>
        <p:spPr>
          <a:xfrm>
            <a:off x="4297680" y="1325880"/>
            <a:ext cx="3566160" cy="2240280"/>
          </a:xfrm>
          <a:prstGeom prst="roundRect">
            <a:avLst>
              <a:gd name="adj" fmla="val 4082"/>
            </a:avLst>
          </a:prstGeom>
          <a:solidFill>
            <a:srgbClr val="FFFFFF"/>
          </a:solidFill>
          <a:ln w="12700">
            <a:solidFill>
              <a:srgbClr val="E2D8C3"/>
            </a:solidFill>
            <a:prstDash val="solid"/>
          </a:ln>
        </p:spPr>
      </p:sp>
      <p:sp>
        <p:nvSpPr>
          <p:cNvPr id="9" name="Religion circle"/>
          <p:cNvSpPr/>
          <p:nvPr/>
        </p:nvSpPr>
        <p:spPr>
          <a:xfrm>
            <a:off x="4480560" y="1508760"/>
            <a:ext cx="566928" cy="566928"/>
          </a:xfrm>
          <a:prstGeom prst="ellipse">
            <a:avLst/>
          </a:prstGeom>
          <a:solidFill>
            <a:srgbClr val="1E5A43"/>
          </a:solidFill>
          <a:ln w="12700">
            <a:solidFill>
              <a:srgbClr val="1E5A43"/>
            </a:solidFill>
            <a:prstDash val="solid"/>
          </a:ln>
        </p:spPr>
      </p:sp>
      <p:pic>
        <p:nvPicPr>
          <p:cNvPr id="10" name="Religion icon" descr="preencoded.png">    </p:cNvPr>
          <p:cNvPicPr>
            <a:picLocks noChangeAspect="1"/>
          </p:cNvPicPr>
          <p:nvPr/>
        </p:nvPicPr>
        <p:blipFill>
          <a:blip r:embed="rId2"/>
          <a:stretch>
            <a:fillRect/>
          </a:stretch>
        </p:blipFill>
        <p:spPr>
          <a:xfrm>
            <a:off x="4616623" y="1644823"/>
            <a:ext cx="294803" cy="294803"/>
          </a:xfrm>
          <a:prstGeom prst="rect">
            <a:avLst/>
          </a:prstGeom>
        </p:spPr>
      </p:pic>
      <p:sp>
        <p:nvSpPr>
          <p:cNvPr id="11" name="Religion heading"/>
          <p:cNvSpPr txBox="1"/>
          <p:nvPr/>
        </p:nvSpPr>
        <p:spPr>
          <a:xfrm>
            <a:off x="5166360" y="150876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2. Religion</a:t>
            </a:r>
            <a:endParaRPr lang="en-US" sz="1900" dirty="0"/>
          </a:p>
        </p:txBody>
      </p:sp>
      <p:sp>
        <p:nvSpPr>
          <p:cNvPr id="12" name="Religion text"/>
          <p:cNvSpPr txBox="1"/>
          <p:nvPr/>
        </p:nvSpPr>
        <p:spPr>
          <a:xfrm>
            <a:off x="4480560" y="2167128"/>
            <a:ext cx="3200400" cy="1371600"/>
          </a:xfrm>
          <a:prstGeom prst="rect">
            <a:avLst/>
          </a:prstGeom>
          <a:noFill/>
          <a:ln/>
        </p:spPr>
        <p:txBody>
          <a:bodyPr wrap="square" lIns="0" tIns="0" rIns="0" bIns="0" rtlCol="0" anchor="t"/>
          <a:lstStyle/>
          <a:p>
            <a:pPr indent="0" marL="0">
              <a:buNone/>
            </a:pPr>
            <a:r>
              <a:rPr lang="en-US" sz="1500" dirty="0">
                <a:solidFill>
                  <a:srgbClr val="1E2533"/>
                </a:solidFill>
              </a:rPr>
              <a:t>Birthplace of Hinduism, Buddhism, Jainism and Sikhism; home to Islam, Christianity and other faiths, each with many sects.</a:t>
            </a:r>
            <a:endParaRPr lang="en-US" sz="1500" dirty="0"/>
          </a:p>
        </p:txBody>
      </p:sp>
      <p:sp>
        <p:nvSpPr>
          <p:cNvPr id="13" name="Language tile"/>
          <p:cNvSpPr/>
          <p:nvPr/>
        </p:nvSpPr>
        <p:spPr>
          <a:xfrm>
            <a:off x="8046720" y="1325880"/>
            <a:ext cx="3566160" cy="2240280"/>
          </a:xfrm>
          <a:prstGeom prst="roundRect">
            <a:avLst>
              <a:gd name="adj" fmla="val 4082"/>
            </a:avLst>
          </a:prstGeom>
          <a:solidFill>
            <a:srgbClr val="FFFFFF"/>
          </a:solidFill>
          <a:ln w="12700">
            <a:solidFill>
              <a:srgbClr val="E2D8C3"/>
            </a:solidFill>
            <a:prstDash val="solid"/>
          </a:ln>
        </p:spPr>
      </p:sp>
      <p:sp>
        <p:nvSpPr>
          <p:cNvPr id="14" name="Language circle"/>
          <p:cNvSpPr/>
          <p:nvPr/>
        </p:nvSpPr>
        <p:spPr>
          <a:xfrm>
            <a:off x="8229600" y="1508760"/>
            <a:ext cx="566928" cy="566928"/>
          </a:xfrm>
          <a:prstGeom prst="ellipse">
            <a:avLst/>
          </a:prstGeom>
          <a:solidFill>
            <a:srgbClr val="1E5A43"/>
          </a:solidFill>
          <a:ln w="12700">
            <a:solidFill>
              <a:srgbClr val="1E5A43"/>
            </a:solidFill>
            <a:prstDash val="solid"/>
          </a:ln>
        </p:spPr>
      </p:sp>
      <p:pic>
        <p:nvPicPr>
          <p:cNvPr id="15" name="Language icon" descr="preencoded.png">    </p:cNvPr>
          <p:cNvPicPr>
            <a:picLocks noChangeAspect="1"/>
          </p:cNvPicPr>
          <p:nvPr/>
        </p:nvPicPr>
        <p:blipFill>
          <a:blip r:embed="rId3"/>
          <a:stretch>
            <a:fillRect/>
          </a:stretch>
        </p:blipFill>
        <p:spPr>
          <a:xfrm>
            <a:off x="8365663" y="1644823"/>
            <a:ext cx="294803" cy="294803"/>
          </a:xfrm>
          <a:prstGeom prst="rect">
            <a:avLst/>
          </a:prstGeom>
        </p:spPr>
      </p:pic>
      <p:sp>
        <p:nvSpPr>
          <p:cNvPr id="16" name="Language heading"/>
          <p:cNvSpPr txBox="1"/>
          <p:nvPr/>
        </p:nvSpPr>
        <p:spPr>
          <a:xfrm>
            <a:off x="8915400" y="150876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3. Language</a:t>
            </a:r>
            <a:endParaRPr lang="en-US" sz="1900" dirty="0"/>
          </a:p>
        </p:txBody>
      </p:sp>
      <p:sp>
        <p:nvSpPr>
          <p:cNvPr id="17" name="Language text"/>
          <p:cNvSpPr txBox="1"/>
          <p:nvPr/>
        </p:nvSpPr>
        <p:spPr>
          <a:xfrm>
            <a:off x="8229600" y="2167128"/>
            <a:ext cx="3200400" cy="1371600"/>
          </a:xfrm>
          <a:prstGeom prst="rect">
            <a:avLst/>
          </a:prstGeom>
          <a:noFill/>
          <a:ln/>
        </p:spPr>
        <p:txBody>
          <a:bodyPr wrap="square" lIns="0" tIns="0" rIns="0" bIns="0" rtlCol="0" anchor="t"/>
          <a:lstStyle/>
          <a:p>
            <a:pPr indent="0" marL="0">
              <a:buNone/>
            </a:pPr>
            <a:r>
              <a:rPr lang="en-US" sz="1500" dirty="0">
                <a:solidFill>
                  <a:srgbClr val="1E2533"/>
                </a:solidFill>
              </a:rPr>
              <a:t>Indo-Aryan (about 78%) and Dravidian (about 19.6%) families, plus Austroasiatic, Tibeto-Burman and others (Census 2011).</a:t>
            </a:r>
            <a:endParaRPr lang="en-US" sz="1500" dirty="0"/>
          </a:p>
        </p:txBody>
      </p:sp>
      <p:sp>
        <p:nvSpPr>
          <p:cNvPr id="18" name="Caste and jati tile"/>
          <p:cNvSpPr/>
          <p:nvPr/>
        </p:nvSpPr>
        <p:spPr>
          <a:xfrm>
            <a:off x="548640" y="3703320"/>
            <a:ext cx="3566160" cy="2240280"/>
          </a:xfrm>
          <a:prstGeom prst="roundRect">
            <a:avLst>
              <a:gd name="adj" fmla="val 4082"/>
            </a:avLst>
          </a:prstGeom>
          <a:solidFill>
            <a:srgbClr val="FFFFFF"/>
          </a:solidFill>
          <a:ln w="12700">
            <a:solidFill>
              <a:srgbClr val="E2D8C3"/>
            </a:solidFill>
            <a:prstDash val="solid"/>
          </a:ln>
        </p:spPr>
      </p:sp>
      <p:sp>
        <p:nvSpPr>
          <p:cNvPr id="19" name="Caste and jati circle"/>
          <p:cNvSpPr/>
          <p:nvPr/>
        </p:nvSpPr>
        <p:spPr>
          <a:xfrm>
            <a:off x="731520" y="3886200"/>
            <a:ext cx="566928" cy="566928"/>
          </a:xfrm>
          <a:prstGeom prst="ellipse">
            <a:avLst/>
          </a:prstGeom>
          <a:solidFill>
            <a:srgbClr val="1E5A43"/>
          </a:solidFill>
          <a:ln w="12700">
            <a:solidFill>
              <a:srgbClr val="1E5A43"/>
            </a:solidFill>
            <a:prstDash val="solid"/>
          </a:ln>
        </p:spPr>
      </p:sp>
      <p:pic>
        <p:nvPicPr>
          <p:cNvPr id="20" name="Caste and jati icon" descr="preencoded.png">    </p:cNvPr>
          <p:cNvPicPr>
            <a:picLocks noChangeAspect="1"/>
          </p:cNvPicPr>
          <p:nvPr/>
        </p:nvPicPr>
        <p:blipFill>
          <a:blip r:embed="rId4"/>
          <a:stretch>
            <a:fillRect/>
          </a:stretch>
        </p:blipFill>
        <p:spPr>
          <a:xfrm>
            <a:off x="867583" y="4022263"/>
            <a:ext cx="294803" cy="294803"/>
          </a:xfrm>
          <a:prstGeom prst="rect">
            <a:avLst/>
          </a:prstGeom>
        </p:spPr>
      </p:pic>
      <p:sp>
        <p:nvSpPr>
          <p:cNvPr id="21" name="Caste and jati heading"/>
          <p:cNvSpPr txBox="1"/>
          <p:nvPr/>
        </p:nvSpPr>
        <p:spPr>
          <a:xfrm>
            <a:off x="1417320" y="388620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4. Caste and jati</a:t>
            </a:r>
            <a:endParaRPr lang="en-US" sz="1900" dirty="0"/>
          </a:p>
        </p:txBody>
      </p:sp>
      <p:sp>
        <p:nvSpPr>
          <p:cNvPr id="22" name="Caste and jati text"/>
          <p:cNvSpPr txBox="1"/>
          <p:nvPr/>
        </p:nvSpPr>
        <p:spPr>
          <a:xfrm>
            <a:off x="731520" y="4544568"/>
            <a:ext cx="3200400" cy="1371600"/>
          </a:xfrm>
          <a:prstGeom prst="rect">
            <a:avLst/>
          </a:prstGeom>
          <a:noFill/>
          <a:ln/>
        </p:spPr>
        <p:txBody>
          <a:bodyPr wrap="square" lIns="0" tIns="0" rIns="0" bIns="0" rtlCol="0" anchor="t"/>
          <a:lstStyle/>
          <a:p>
            <a:pPr indent="0" marL="0">
              <a:buNone/>
            </a:pPr>
            <a:r>
              <a:rPr lang="en-US" sz="1500" dirty="0">
                <a:solidFill>
                  <a:srgbClr val="1E2533"/>
                </a:solidFill>
              </a:rPr>
              <a:t>Four varnas but thousands of jatis, traditionally tied to occupation. Education and inter-caste marriage are making jati more flexible.</a:t>
            </a:r>
            <a:endParaRPr lang="en-US" sz="1500" dirty="0"/>
          </a:p>
        </p:txBody>
      </p:sp>
      <p:sp>
        <p:nvSpPr>
          <p:cNvPr id="23" name="Geography tile"/>
          <p:cNvSpPr/>
          <p:nvPr/>
        </p:nvSpPr>
        <p:spPr>
          <a:xfrm>
            <a:off x="4297680" y="3703320"/>
            <a:ext cx="3566160" cy="2240280"/>
          </a:xfrm>
          <a:prstGeom prst="roundRect">
            <a:avLst>
              <a:gd name="adj" fmla="val 4082"/>
            </a:avLst>
          </a:prstGeom>
          <a:solidFill>
            <a:srgbClr val="FFFFFF"/>
          </a:solidFill>
          <a:ln w="12700">
            <a:solidFill>
              <a:srgbClr val="E2D8C3"/>
            </a:solidFill>
            <a:prstDash val="solid"/>
          </a:ln>
        </p:spPr>
      </p:sp>
      <p:sp>
        <p:nvSpPr>
          <p:cNvPr id="24" name="Geography circle"/>
          <p:cNvSpPr/>
          <p:nvPr/>
        </p:nvSpPr>
        <p:spPr>
          <a:xfrm>
            <a:off x="4480560" y="3886200"/>
            <a:ext cx="566928" cy="566928"/>
          </a:xfrm>
          <a:prstGeom prst="ellipse">
            <a:avLst/>
          </a:prstGeom>
          <a:solidFill>
            <a:srgbClr val="1E5A43"/>
          </a:solidFill>
          <a:ln w="12700">
            <a:solidFill>
              <a:srgbClr val="1E5A43"/>
            </a:solidFill>
            <a:prstDash val="solid"/>
          </a:ln>
        </p:spPr>
      </p:sp>
      <p:pic>
        <p:nvPicPr>
          <p:cNvPr id="25" name="Geography icon" descr="preencoded.png">    </p:cNvPr>
          <p:cNvPicPr>
            <a:picLocks noChangeAspect="1"/>
          </p:cNvPicPr>
          <p:nvPr/>
        </p:nvPicPr>
        <p:blipFill>
          <a:blip r:embed="rId5"/>
          <a:stretch>
            <a:fillRect/>
          </a:stretch>
        </p:blipFill>
        <p:spPr>
          <a:xfrm>
            <a:off x="4616623" y="4022263"/>
            <a:ext cx="294803" cy="294803"/>
          </a:xfrm>
          <a:prstGeom prst="rect">
            <a:avLst/>
          </a:prstGeom>
        </p:spPr>
      </p:pic>
      <p:sp>
        <p:nvSpPr>
          <p:cNvPr id="26" name="Geography heading"/>
          <p:cNvSpPr txBox="1"/>
          <p:nvPr/>
        </p:nvSpPr>
        <p:spPr>
          <a:xfrm>
            <a:off x="5166360" y="388620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5. Geography</a:t>
            </a:r>
            <a:endParaRPr lang="en-US" sz="1900" dirty="0"/>
          </a:p>
        </p:txBody>
      </p:sp>
      <p:sp>
        <p:nvSpPr>
          <p:cNvPr id="27" name="Geography text"/>
          <p:cNvSpPr txBox="1"/>
          <p:nvPr/>
        </p:nvSpPr>
        <p:spPr>
          <a:xfrm>
            <a:off x="4480560" y="4544568"/>
            <a:ext cx="3200400" cy="1371600"/>
          </a:xfrm>
          <a:prstGeom prst="rect">
            <a:avLst/>
          </a:prstGeom>
          <a:noFill/>
          <a:ln/>
        </p:spPr>
        <p:txBody>
          <a:bodyPr wrap="square" lIns="0" tIns="0" rIns="0" bIns="0" rtlCol="0" anchor="t"/>
          <a:lstStyle/>
          <a:p>
            <a:pPr indent="0" marL="0">
              <a:buNone/>
            </a:pPr>
            <a:r>
              <a:rPr lang="en-US" sz="1500" dirty="0">
                <a:solidFill>
                  <a:srgbClr val="1E2533"/>
                </a:solidFill>
              </a:rPr>
              <a:t>Seventh-largest country: young Himalayas, old Aravallis, cold desert (Ladakh), hot desert (Thar), long coasts and fertile plains.</a:t>
            </a:r>
            <a:endParaRPr lang="en-US" sz="1500" dirty="0"/>
          </a:p>
        </p:txBody>
      </p:sp>
      <p:sp>
        <p:nvSpPr>
          <p:cNvPr id="28" name="Culture tile"/>
          <p:cNvSpPr/>
          <p:nvPr/>
        </p:nvSpPr>
        <p:spPr>
          <a:xfrm>
            <a:off x="8046720" y="3703320"/>
            <a:ext cx="3566160" cy="2240280"/>
          </a:xfrm>
          <a:prstGeom prst="roundRect">
            <a:avLst>
              <a:gd name="adj" fmla="val 4082"/>
            </a:avLst>
          </a:prstGeom>
          <a:solidFill>
            <a:srgbClr val="FFFFFF"/>
          </a:solidFill>
          <a:ln w="12700">
            <a:solidFill>
              <a:srgbClr val="E2D8C3"/>
            </a:solidFill>
            <a:prstDash val="solid"/>
          </a:ln>
        </p:spPr>
      </p:sp>
      <p:sp>
        <p:nvSpPr>
          <p:cNvPr id="29" name="Culture circle"/>
          <p:cNvSpPr/>
          <p:nvPr/>
        </p:nvSpPr>
        <p:spPr>
          <a:xfrm>
            <a:off x="8229600" y="3886200"/>
            <a:ext cx="566928" cy="566928"/>
          </a:xfrm>
          <a:prstGeom prst="ellipse">
            <a:avLst/>
          </a:prstGeom>
          <a:solidFill>
            <a:srgbClr val="1E5A43"/>
          </a:solidFill>
          <a:ln w="12700">
            <a:solidFill>
              <a:srgbClr val="1E5A43"/>
            </a:solidFill>
            <a:prstDash val="solid"/>
          </a:ln>
        </p:spPr>
      </p:sp>
      <p:pic>
        <p:nvPicPr>
          <p:cNvPr id="30" name="Culture icon" descr="preencoded.png">    </p:cNvPr>
          <p:cNvPicPr>
            <a:picLocks noChangeAspect="1"/>
          </p:cNvPicPr>
          <p:nvPr/>
        </p:nvPicPr>
        <p:blipFill>
          <a:blip r:embed="rId6"/>
          <a:stretch>
            <a:fillRect/>
          </a:stretch>
        </p:blipFill>
        <p:spPr>
          <a:xfrm>
            <a:off x="8365663" y="4022263"/>
            <a:ext cx="294803" cy="294803"/>
          </a:xfrm>
          <a:prstGeom prst="rect">
            <a:avLst/>
          </a:prstGeom>
        </p:spPr>
      </p:pic>
      <p:sp>
        <p:nvSpPr>
          <p:cNvPr id="31" name="Culture heading"/>
          <p:cNvSpPr txBox="1"/>
          <p:nvPr/>
        </p:nvSpPr>
        <p:spPr>
          <a:xfrm>
            <a:off x="8915400" y="3886200"/>
            <a:ext cx="2560320" cy="566928"/>
          </a:xfrm>
          <a:prstGeom prst="rect">
            <a:avLst/>
          </a:prstGeom>
          <a:noFill/>
          <a:ln/>
        </p:spPr>
        <p:txBody>
          <a:bodyPr wrap="square" lIns="0" tIns="0" rIns="0" bIns="0" rtlCol="0" anchor="ctr"/>
          <a:lstStyle/>
          <a:p>
            <a:pPr indent="0" marL="0">
              <a:buNone/>
            </a:pPr>
            <a:r>
              <a:rPr lang="en-US" sz="1900" b="1" dirty="0">
                <a:solidFill>
                  <a:srgbClr val="1F2F4F"/>
                </a:solidFill>
                <a:latin typeface="Cambria" pitchFamily="34" charset="0"/>
                <a:ea typeface="Cambria" pitchFamily="34" charset="-122"/>
                <a:cs typeface="Cambria" pitchFamily="34" charset="-120"/>
              </a:rPr>
              <a:t>6. Culture</a:t>
            </a:r>
            <a:endParaRPr lang="en-US" sz="1900" dirty="0"/>
          </a:p>
        </p:txBody>
      </p:sp>
      <p:sp>
        <p:nvSpPr>
          <p:cNvPr id="32" name="Culture text"/>
          <p:cNvSpPr txBox="1"/>
          <p:nvPr/>
        </p:nvSpPr>
        <p:spPr>
          <a:xfrm>
            <a:off x="8229600" y="4544568"/>
            <a:ext cx="3200400" cy="1371600"/>
          </a:xfrm>
          <a:prstGeom prst="rect">
            <a:avLst/>
          </a:prstGeom>
          <a:noFill/>
          <a:ln/>
        </p:spPr>
        <p:txBody>
          <a:bodyPr wrap="square" lIns="0" tIns="0" rIns="0" bIns="0" rtlCol="0" anchor="t"/>
          <a:lstStyle/>
          <a:p>
            <a:pPr indent="0" marL="0">
              <a:buNone/>
            </a:pPr>
            <a:r>
              <a:rPr lang="en-US" sz="1500" dirty="0">
                <a:solidFill>
                  <a:srgbClr val="1E2533"/>
                </a:solidFill>
              </a:rPr>
              <a:t>Hills, plains, coasts and deserts shape different ways of life, architecture, dance forms and folk songs.</a:t>
            </a:r>
            <a:endParaRPr lang="en-US" sz="1500" dirty="0"/>
          </a:p>
        </p:txBody>
      </p:sp>
      <p:sp>
        <p:nvSpPr>
          <p:cNvPr id="33"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pp. 74–75; Guha (1935), Census of India 1931; Reich et al. (2009); Narasimhan et al. (2019); AAPA (2019); Census 2011 language data; Dirks (2001).</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Unity in diversity: the constitutional foundations</a:t>
            </a:r>
            <a:endParaRPr lang="en-US" sz="3200" dirty="0"/>
          </a:p>
        </p:txBody>
      </p:sp>
      <p:sp>
        <p:nvSpPr>
          <p:cNvPr id="3" name="Roof"/>
          <p:cNvSpPr/>
          <p:nvPr/>
        </p:nvSpPr>
        <p:spPr>
          <a:xfrm>
            <a:off x="548640" y="1280160"/>
            <a:ext cx="11064240" cy="868680"/>
          </a:xfrm>
          <a:prstGeom prst="trapezoid">
            <a:avLst/>
          </a:prstGeom>
          <a:solidFill>
            <a:srgbClr val="1F2F4F"/>
          </a:solidFill>
          <a:ln w="12700">
            <a:solidFill>
              <a:srgbClr val="1F2F4F"/>
            </a:solidFill>
            <a:prstDash val="solid"/>
          </a:ln>
        </p:spPr>
      </p:sp>
      <p:sp>
        <p:nvSpPr>
          <p:cNvPr id="4" name="Roof label"/>
          <p:cNvSpPr txBox="1"/>
          <p:nvPr/>
        </p:nvSpPr>
        <p:spPr>
          <a:xfrm>
            <a:off x="1463040" y="1353312"/>
            <a:ext cx="9235440" cy="7315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The Constitution of India — one framework for a diverse nation</a:t>
            </a:r>
            <a:endParaRPr lang="en-US" sz="2100" dirty="0"/>
          </a:p>
        </p:txBody>
      </p:sp>
      <p:sp>
        <p:nvSpPr>
          <p:cNvPr id="5" name="Fundamental rights pillar"/>
          <p:cNvSpPr/>
          <p:nvPr/>
        </p:nvSpPr>
        <p:spPr>
          <a:xfrm>
            <a:off x="868680" y="2286000"/>
            <a:ext cx="2331720" cy="2834640"/>
          </a:xfrm>
          <a:prstGeom prst="rect">
            <a:avLst/>
          </a:prstGeom>
          <a:solidFill>
            <a:srgbClr val="1E5A43"/>
          </a:solidFill>
          <a:ln w="12700">
            <a:solidFill>
              <a:srgbClr val="1E5A43"/>
            </a:solidFill>
            <a:prstDash val="solid"/>
          </a:ln>
        </p:spPr>
      </p:sp>
      <p:sp>
        <p:nvSpPr>
          <p:cNvPr id="6" name="Fundamental rights heading"/>
          <p:cNvSpPr txBox="1"/>
          <p:nvPr/>
        </p:nvSpPr>
        <p:spPr>
          <a:xfrm>
            <a:off x="1005840" y="2395728"/>
            <a:ext cx="20574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Fundamental rights</a:t>
            </a:r>
            <a:endParaRPr lang="en-US" sz="1800" dirty="0"/>
          </a:p>
        </p:txBody>
      </p:sp>
      <p:sp>
        <p:nvSpPr>
          <p:cNvPr id="7" name="Fundamental rights article"/>
          <p:cNvSpPr txBox="1"/>
          <p:nvPr/>
        </p:nvSpPr>
        <p:spPr>
          <a:xfrm>
            <a:off x="1005840" y="3035808"/>
            <a:ext cx="2057400" cy="320040"/>
          </a:xfrm>
          <a:prstGeom prst="rect">
            <a:avLst/>
          </a:prstGeom>
          <a:noFill/>
          <a:ln/>
        </p:spPr>
        <p:txBody>
          <a:bodyPr wrap="square" lIns="0" tIns="0" rIns="0" bIns="0" rtlCol="0" anchor="t"/>
          <a:lstStyle/>
          <a:p>
            <a:pPr indent="0" marL="0">
              <a:buNone/>
            </a:pPr>
            <a:r>
              <a:rPr lang="en-US" sz="1300" b="1" dirty="0">
                <a:solidFill>
                  <a:srgbClr val="F2C28B"/>
                </a:solidFill>
              </a:rPr>
              <a:t>Arts. 14–15</a:t>
            </a:r>
            <a:endParaRPr lang="en-US" sz="1300" dirty="0"/>
          </a:p>
        </p:txBody>
      </p:sp>
      <p:sp>
        <p:nvSpPr>
          <p:cNvPr id="8" name="Fundamental rights text"/>
          <p:cNvSpPr txBox="1"/>
          <p:nvPr/>
        </p:nvSpPr>
        <p:spPr>
          <a:xfrm>
            <a:off x="1005840" y="3401568"/>
            <a:ext cx="2057400" cy="1691640"/>
          </a:xfrm>
          <a:prstGeom prst="rect">
            <a:avLst/>
          </a:prstGeom>
          <a:noFill/>
          <a:ln/>
        </p:spPr>
        <p:txBody>
          <a:bodyPr wrap="square" lIns="0" tIns="0" rIns="0" bIns="0" rtlCol="0" anchor="t"/>
          <a:lstStyle/>
          <a:p>
            <a:pPr indent="0" marL="0">
              <a:buNone/>
            </a:pPr>
            <a:r>
              <a:rPr lang="en-US" sz="1600" dirty="0">
                <a:solidFill>
                  <a:srgbClr val="FFFFFF"/>
                </a:solidFill>
              </a:rPr>
              <a:t>Equality before law; no discrimination on grounds of religion, race, caste, sex or place of birth.</a:t>
            </a:r>
            <a:endParaRPr lang="en-US" sz="1600" dirty="0"/>
          </a:p>
        </p:txBody>
      </p:sp>
      <p:sp>
        <p:nvSpPr>
          <p:cNvPr id="9" name="Freedom of movement pillar"/>
          <p:cNvSpPr/>
          <p:nvPr/>
        </p:nvSpPr>
        <p:spPr>
          <a:xfrm>
            <a:off x="3566160" y="2286000"/>
            <a:ext cx="2331720" cy="2834640"/>
          </a:xfrm>
          <a:prstGeom prst="rect">
            <a:avLst/>
          </a:prstGeom>
          <a:solidFill>
            <a:srgbClr val="245F48"/>
          </a:solidFill>
          <a:ln w="12700">
            <a:solidFill>
              <a:srgbClr val="1E5A43"/>
            </a:solidFill>
            <a:prstDash val="solid"/>
          </a:ln>
        </p:spPr>
      </p:sp>
      <p:sp>
        <p:nvSpPr>
          <p:cNvPr id="10" name="Freedom of movement heading"/>
          <p:cNvSpPr txBox="1"/>
          <p:nvPr/>
        </p:nvSpPr>
        <p:spPr>
          <a:xfrm>
            <a:off x="3703320" y="2395728"/>
            <a:ext cx="20574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Freedom of movement</a:t>
            </a:r>
            <a:endParaRPr lang="en-US" sz="1800" dirty="0"/>
          </a:p>
        </p:txBody>
      </p:sp>
      <p:sp>
        <p:nvSpPr>
          <p:cNvPr id="11" name="Freedom of movement article"/>
          <p:cNvSpPr txBox="1"/>
          <p:nvPr/>
        </p:nvSpPr>
        <p:spPr>
          <a:xfrm>
            <a:off x="3703320" y="3035808"/>
            <a:ext cx="2057400" cy="320040"/>
          </a:xfrm>
          <a:prstGeom prst="rect">
            <a:avLst/>
          </a:prstGeom>
          <a:noFill/>
          <a:ln/>
        </p:spPr>
        <p:txBody>
          <a:bodyPr wrap="square" lIns="0" tIns="0" rIns="0" bIns="0" rtlCol="0" anchor="t"/>
          <a:lstStyle/>
          <a:p>
            <a:pPr indent="0" marL="0">
              <a:buNone/>
            </a:pPr>
            <a:r>
              <a:rPr lang="en-US" sz="1300" b="1" dirty="0">
                <a:solidFill>
                  <a:srgbClr val="F2C28B"/>
                </a:solidFill>
              </a:rPr>
              <a:t>Art. 19(1)(d)</a:t>
            </a:r>
            <a:endParaRPr lang="en-US" sz="1300" dirty="0"/>
          </a:p>
        </p:txBody>
      </p:sp>
      <p:sp>
        <p:nvSpPr>
          <p:cNvPr id="12" name="Freedom of movement text"/>
          <p:cNvSpPr txBox="1"/>
          <p:nvPr/>
        </p:nvSpPr>
        <p:spPr>
          <a:xfrm>
            <a:off x="3703320" y="3401568"/>
            <a:ext cx="2057400" cy="1691640"/>
          </a:xfrm>
          <a:prstGeom prst="rect">
            <a:avLst/>
          </a:prstGeom>
          <a:noFill/>
          <a:ln/>
        </p:spPr>
        <p:txBody>
          <a:bodyPr wrap="square" lIns="0" tIns="0" rIns="0" bIns="0" rtlCol="0" anchor="t"/>
          <a:lstStyle/>
          <a:p>
            <a:pPr indent="0" marL="0">
              <a:buNone/>
            </a:pPr>
            <a:r>
              <a:rPr lang="en-US" sz="1600" dirty="0">
                <a:solidFill>
                  <a:srgbClr val="FFFFFF"/>
                </a:solidFill>
              </a:rPr>
              <a:t>Every citizen may move freely throughout India — and settle anywhere (Art. 19(1)(e)).</a:t>
            </a:r>
            <a:endParaRPr lang="en-US" sz="1600" dirty="0"/>
          </a:p>
        </p:txBody>
      </p:sp>
      <p:sp>
        <p:nvSpPr>
          <p:cNvPr id="13" name="Secularism pillar"/>
          <p:cNvSpPr/>
          <p:nvPr/>
        </p:nvSpPr>
        <p:spPr>
          <a:xfrm>
            <a:off x="6263640" y="2286000"/>
            <a:ext cx="2331720" cy="2834640"/>
          </a:xfrm>
          <a:prstGeom prst="rect">
            <a:avLst/>
          </a:prstGeom>
          <a:solidFill>
            <a:srgbClr val="1E5A43"/>
          </a:solidFill>
          <a:ln w="12700">
            <a:solidFill>
              <a:srgbClr val="1E5A43"/>
            </a:solidFill>
            <a:prstDash val="solid"/>
          </a:ln>
        </p:spPr>
      </p:sp>
      <p:sp>
        <p:nvSpPr>
          <p:cNvPr id="14" name="Secularism heading"/>
          <p:cNvSpPr txBox="1"/>
          <p:nvPr/>
        </p:nvSpPr>
        <p:spPr>
          <a:xfrm>
            <a:off x="6400800" y="2395728"/>
            <a:ext cx="20574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Secularism</a:t>
            </a:r>
            <a:endParaRPr lang="en-US" sz="1800" dirty="0"/>
          </a:p>
        </p:txBody>
      </p:sp>
      <p:sp>
        <p:nvSpPr>
          <p:cNvPr id="15" name="Secularism article"/>
          <p:cNvSpPr txBox="1"/>
          <p:nvPr/>
        </p:nvSpPr>
        <p:spPr>
          <a:xfrm>
            <a:off x="6400800" y="3035808"/>
            <a:ext cx="2057400" cy="320040"/>
          </a:xfrm>
          <a:prstGeom prst="rect">
            <a:avLst/>
          </a:prstGeom>
          <a:noFill/>
          <a:ln/>
        </p:spPr>
        <p:txBody>
          <a:bodyPr wrap="square" lIns="0" tIns="0" rIns="0" bIns="0" rtlCol="0" anchor="t"/>
          <a:lstStyle/>
          <a:p>
            <a:pPr indent="0" marL="0">
              <a:buNone/>
            </a:pPr>
            <a:r>
              <a:rPr lang="en-US" sz="1300" b="1" dirty="0">
                <a:solidFill>
                  <a:srgbClr val="F2C28B"/>
                </a:solidFill>
              </a:rPr>
              <a:t>Arts. 25–28</a:t>
            </a:r>
            <a:endParaRPr lang="en-US" sz="1300" dirty="0"/>
          </a:p>
        </p:txBody>
      </p:sp>
      <p:sp>
        <p:nvSpPr>
          <p:cNvPr id="16" name="Secularism text"/>
          <p:cNvSpPr txBox="1"/>
          <p:nvPr/>
        </p:nvSpPr>
        <p:spPr>
          <a:xfrm>
            <a:off x="6400800" y="3401568"/>
            <a:ext cx="2057400" cy="1691640"/>
          </a:xfrm>
          <a:prstGeom prst="rect">
            <a:avLst/>
          </a:prstGeom>
          <a:noFill/>
          <a:ln/>
        </p:spPr>
        <p:txBody>
          <a:bodyPr wrap="square" lIns="0" tIns="0" rIns="0" bIns="0" rtlCol="0" anchor="t"/>
          <a:lstStyle/>
          <a:p>
            <a:pPr indent="0" marL="0">
              <a:buNone/>
            </a:pPr>
            <a:r>
              <a:rPr lang="en-US" sz="1600" dirty="0">
                <a:solidFill>
                  <a:srgbClr val="FFFFFF"/>
                </a:solidFill>
              </a:rPr>
              <a:t>No state religion; freedom of conscience and worship for all. ‘Secular’ added to the Preamble in 1976.</a:t>
            </a:r>
            <a:endParaRPr lang="en-US" sz="1600" dirty="0"/>
          </a:p>
        </p:txBody>
      </p:sp>
      <p:sp>
        <p:nvSpPr>
          <p:cNvPr id="17" name="Economic integration pillar"/>
          <p:cNvSpPr/>
          <p:nvPr/>
        </p:nvSpPr>
        <p:spPr>
          <a:xfrm>
            <a:off x="8961120" y="2286000"/>
            <a:ext cx="2331720" cy="2834640"/>
          </a:xfrm>
          <a:prstGeom prst="rect">
            <a:avLst/>
          </a:prstGeom>
          <a:solidFill>
            <a:srgbClr val="245F48"/>
          </a:solidFill>
          <a:ln w="12700">
            <a:solidFill>
              <a:srgbClr val="1E5A43"/>
            </a:solidFill>
            <a:prstDash val="solid"/>
          </a:ln>
        </p:spPr>
      </p:sp>
      <p:sp>
        <p:nvSpPr>
          <p:cNvPr id="18" name="Economic integration heading"/>
          <p:cNvSpPr txBox="1"/>
          <p:nvPr/>
        </p:nvSpPr>
        <p:spPr>
          <a:xfrm>
            <a:off x="9098280" y="2395728"/>
            <a:ext cx="20574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Economic integration</a:t>
            </a:r>
            <a:endParaRPr lang="en-US" sz="1800" dirty="0"/>
          </a:p>
        </p:txBody>
      </p:sp>
      <p:sp>
        <p:nvSpPr>
          <p:cNvPr id="19" name="Economic integration article"/>
          <p:cNvSpPr txBox="1"/>
          <p:nvPr/>
        </p:nvSpPr>
        <p:spPr>
          <a:xfrm>
            <a:off x="9098280" y="3035808"/>
            <a:ext cx="2057400" cy="320040"/>
          </a:xfrm>
          <a:prstGeom prst="rect">
            <a:avLst/>
          </a:prstGeom>
          <a:noFill/>
          <a:ln/>
        </p:spPr>
        <p:txBody>
          <a:bodyPr wrap="square" lIns="0" tIns="0" rIns="0" bIns="0" rtlCol="0" anchor="t"/>
          <a:lstStyle/>
          <a:p>
            <a:pPr indent="0" marL="0">
              <a:buNone/>
            </a:pPr>
            <a:r>
              <a:rPr lang="en-US" sz="1300" b="1" dirty="0">
                <a:solidFill>
                  <a:srgbClr val="F2C28B"/>
                </a:solidFill>
              </a:rPr>
              <a:t>GST, 1 July 2017</a:t>
            </a:r>
            <a:endParaRPr lang="en-US" sz="1300" dirty="0"/>
          </a:p>
        </p:txBody>
      </p:sp>
      <p:sp>
        <p:nvSpPr>
          <p:cNvPr id="20" name="Economic integration text"/>
          <p:cNvSpPr txBox="1"/>
          <p:nvPr/>
        </p:nvSpPr>
        <p:spPr>
          <a:xfrm>
            <a:off x="9098280" y="3401568"/>
            <a:ext cx="2057400" cy="1691640"/>
          </a:xfrm>
          <a:prstGeom prst="rect">
            <a:avLst/>
          </a:prstGeom>
          <a:noFill/>
          <a:ln/>
        </p:spPr>
        <p:txBody>
          <a:bodyPr wrap="square" lIns="0" tIns="0" rIns="0" bIns="0" rtlCol="0" anchor="t"/>
          <a:lstStyle/>
          <a:p>
            <a:pPr indent="0" marL="0">
              <a:buNone/>
            </a:pPr>
            <a:r>
              <a:rPr lang="en-US" sz="1600" dirty="0">
                <a:solidFill>
                  <a:srgbClr val="FFFFFF"/>
                </a:solidFill>
              </a:rPr>
              <a:t>The same trade rules across states; GST created one national tax on goods and services.</a:t>
            </a:r>
            <a:endParaRPr lang="en-US" sz="1600" dirty="0"/>
          </a:p>
        </p:txBody>
      </p:sp>
      <p:sp>
        <p:nvSpPr>
          <p:cNvPr id="21" name="Base"/>
          <p:cNvSpPr/>
          <p:nvPr/>
        </p:nvSpPr>
        <p:spPr>
          <a:xfrm>
            <a:off x="548640" y="5230368"/>
            <a:ext cx="11064240" cy="749808"/>
          </a:xfrm>
          <a:prstGeom prst="roundRect">
            <a:avLst>
              <a:gd name="adj" fmla="val 12195"/>
            </a:avLst>
          </a:prstGeom>
          <a:solidFill>
            <a:srgbClr val="EFE6D2"/>
          </a:solidFill>
          <a:ln w="12700">
            <a:solidFill>
              <a:srgbClr val="EFE6D2"/>
            </a:solidFill>
            <a:prstDash val="solid"/>
          </a:ln>
        </p:spPr>
      </p:sp>
      <p:sp>
        <p:nvSpPr>
          <p:cNvPr id="22" name="Base text"/>
          <p:cNvSpPr txBox="1"/>
          <p:nvPr/>
        </p:nvSpPr>
        <p:spPr>
          <a:xfrm>
            <a:off x="777240" y="5276088"/>
            <a:ext cx="10607040" cy="658368"/>
          </a:xfrm>
          <a:prstGeom prst="rect">
            <a:avLst/>
          </a:prstGeom>
          <a:noFill/>
          <a:ln/>
        </p:spPr>
        <p:txBody>
          <a:bodyPr wrap="square" lIns="0" tIns="0" rIns="0" bIns="0" rtlCol="0" anchor="ctr"/>
          <a:lstStyle/>
          <a:p>
            <a:pPr indent="0" marL="0">
              <a:buNone/>
            </a:pPr>
            <a:r>
              <a:rPr lang="en-US" sz="1500" b="1" dirty="0">
                <a:solidFill>
                  <a:srgbClr val="1F2F4F"/>
                </a:solidFill>
              </a:rPr>
              <a:t>Base: one government framework in three tiers — Union, States and local bodies. </a:t>
            </a:r>
            <a:pPr indent="0" marL="0">
              <a:buNone/>
            </a:pPr>
            <a:r>
              <a:rPr lang="en-US" sz="1500" dirty="0">
                <a:solidFill>
                  <a:srgbClr val="1E2533"/>
                </a:solidFill>
              </a:rPr>
              <a:t>Common rules create shared ground; they do not erase regional or social inequality.</a:t>
            </a:r>
            <a:endParaRPr lang="en-US" sz="1500" dirty="0"/>
          </a:p>
        </p:txBody>
      </p:sp>
      <p:sp>
        <p:nvSpPr>
          <p:cNvPr id="23"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 75–76 (factors 1–4); Constitution of India, Arts. 14–15, 19, 25–28; 42nd Amendment (1976); 101st Amendment (2016) and GST rollout (2017).</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Shared experiences across a diverse country</a:t>
            </a:r>
            <a:endParaRPr lang="en-US" sz="3200" dirty="0"/>
          </a:p>
        </p:txBody>
      </p:sp>
      <p:sp>
        <p:nvSpPr>
          <p:cNvPr id="3" name="Festivals card"/>
          <p:cNvSpPr/>
          <p:nvPr/>
        </p:nvSpPr>
        <p:spPr>
          <a:xfrm>
            <a:off x="548640" y="1325880"/>
            <a:ext cx="3566160" cy="3520440"/>
          </a:xfrm>
          <a:prstGeom prst="roundRect">
            <a:avLst>
              <a:gd name="adj" fmla="val 2597"/>
            </a:avLst>
          </a:prstGeom>
          <a:solidFill>
            <a:srgbClr val="FFFFFF"/>
          </a:solidFill>
          <a:ln w="12700">
            <a:solidFill>
              <a:srgbClr val="E2D8C3"/>
            </a:solidFill>
            <a:prstDash val="solid"/>
          </a:ln>
        </p:spPr>
      </p:sp>
      <p:pic>
        <p:nvPicPr>
          <p:cNvPr id="4" name="Festivals photo" descr="Families gathered at a Magh Bihu bonfire in Assam">    </p:cNvPr>
          <p:cNvPicPr>
            <a:picLocks noChangeAspect="1"/>
          </p:cNvPicPr>
          <p:nvPr/>
        </p:nvPicPr>
        <p:blipFill>
          <a:blip r:embed="rId1"/>
          <a:srcRect l="0" r="0" t="0" b="0"/>
          <a:stretch/>
        </p:blipFill>
        <p:spPr>
          <a:xfrm>
            <a:off x="658368" y="1435608"/>
            <a:ext cx="3346704" cy="1325880"/>
          </a:xfrm>
          <a:prstGeom prst="rect">
            <a:avLst/>
          </a:prstGeom>
        </p:spPr>
      </p:pic>
      <p:sp>
        <p:nvSpPr>
          <p:cNvPr id="5" name="Festivals heading"/>
          <p:cNvSpPr txBox="1"/>
          <p:nvPr/>
        </p:nvSpPr>
        <p:spPr>
          <a:xfrm>
            <a:off x="731520" y="2834640"/>
            <a:ext cx="3200400" cy="384048"/>
          </a:xfrm>
          <a:prstGeom prst="rect">
            <a:avLst/>
          </a:prstGeom>
          <a:noFill/>
          <a:ln/>
        </p:spPr>
        <p:txBody>
          <a:bodyPr wrap="square" lIns="0" tIns="0" rIns="0" bIns="0" rtlCol="0" anchor="t"/>
          <a:lstStyle/>
          <a:p>
            <a:pPr indent="0" marL="0">
              <a:buNone/>
            </a:pPr>
            <a:r>
              <a:rPr lang="en-US" sz="1800" b="1" dirty="0">
                <a:solidFill>
                  <a:srgbClr val="1F2F4F"/>
                </a:solidFill>
                <a:latin typeface="Cambria" pitchFamily="34" charset="0"/>
                <a:ea typeface="Cambria" pitchFamily="34" charset="-122"/>
                <a:cs typeface="Cambria" pitchFamily="34" charset="-120"/>
              </a:rPr>
              <a:t>Festivals</a:t>
            </a:r>
            <a:endParaRPr lang="en-US" sz="1800" dirty="0"/>
          </a:p>
        </p:txBody>
      </p:sp>
      <p:sp>
        <p:nvSpPr>
          <p:cNvPr id="6" name="Festivals text"/>
          <p:cNvSpPr txBox="1"/>
          <p:nvPr/>
        </p:nvSpPr>
        <p:spPr>
          <a:xfrm>
            <a:off x="731520" y="3218688"/>
            <a:ext cx="3200400" cy="1600200"/>
          </a:xfrm>
          <a:prstGeom prst="rect">
            <a:avLst/>
          </a:prstGeom>
          <a:noFill/>
          <a:ln/>
        </p:spPr>
        <p:txBody>
          <a:bodyPr wrap="square" lIns="0" tIns="0" rIns="0" bIns="0" rtlCol="0" anchor="t"/>
          <a:lstStyle/>
          <a:p>
            <a:pPr indent="0" marL="0">
              <a:buNone/>
            </a:pPr>
            <a:r>
              <a:rPr lang="en-US" sz="1550" dirty="0">
                <a:solidFill>
                  <a:srgbClr val="1E2533"/>
                </a:solidFill>
              </a:rPr>
              <a:t>Festivals of many faiths are celebrated widely. The textbook links them to the lunar calendar; Makar Sankranti actually follows the solar one, so its date stays fixed.</a:t>
            </a:r>
            <a:endParaRPr lang="en-US" sz="1550" dirty="0"/>
          </a:p>
        </p:txBody>
      </p:sp>
      <p:sp>
        <p:nvSpPr>
          <p:cNvPr id="7" name="The monsoon card"/>
          <p:cNvSpPr/>
          <p:nvPr/>
        </p:nvSpPr>
        <p:spPr>
          <a:xfrm>
            <a:off x="4297680" y="1325880"/>
            <a:ext cx="3566160" cy="3520440"/>
          </a:xfrm>
          <a:prstGeom prst="roundRect">
            <a:avLst>
              <a:gd name="adj" fmla="val 2597"/>
            </a:avLst>
          </a:prstGeom>
          <a:solidFill>
            <a:srgbClr val="FFFFFF"/>
          </a:solidFill>
          <a:ln w="12700">
            <a:solidFill>
              <a:srgbClr val="E2D8C3"/>
            </a:solidFill>
            <a:prstDash val="solid"/>
          </a:ln>
        </p:spPr>
      </p:sp>
      <p:pic>
        <p:nvPicPr>
          <p:cNvPr id="8" name="The monsoon photo" descr="Monsoon clouds over the Kaveri river in Karnataka">    </p:cNvPr>
          <p:cNvPicPr>
            <a:picLocks noChangeAspect="1"/>
          </p:cNvPicPr>
          <p:nvPr/>
        </p:nvPicPr>
        <p:blipFill>
          <a:blip r:embed="rId2"/>
          <a:srcRect l="0" r="0" t="0" b="0"/>
          <a:stretch/>
        </p:blipFill>
        <p:spPr>
          <a:xfrm>
            <a:off x="4407408" y="1435608"/>
            <a:ext cx="3346704" cy="1325880"/>
          </a:xfrm>
          <a:prstGeom prst="rect">
            <a:avLst/>
          </a:prstGeom>
        </p:spPr>
      </p:pic>
      <p:sp>
        <p:nvSpPr>
          <p:cNvPr id="9" name="The monsoon heading"/>
          <p:cNvSpPr txBox="1"/>
          <p:nvPr/>
        </p:nvSpPr>
        <p:spPr>
          <a:xfrm>
            <a:off x="4480560" y="2834640"/>
            <a:ext cx="3200400" cy="384048"/>
          </a:xfrm>
          <a:prstGeom prst="rect">
            <a:avLst/>
          </a:prstGeom>
          <a:noFill/>
          <a:ln/>
        </p:spPr>
        <p:txBody>
          <a:bodyPr wrap="square" lIns="0" tIns="0" rIns="0" bIns="0" rtlCol="0" anchor="t"/>
          <a:lstStyle/>
          <a:p>
            <a:pPr indent="0" marL="0">
              <a:buNone/>
            </a:pPr>
            <a:r>
              <a:rPr lang="en-US" sz="1800" b="1" dirty="0">
                <a:solidFill>
                  <a:srgbClr val="1F2F4F"/>
                </a:solidFill>
                <a:latin typeface="Cambria" pitchFamily="34" charset="0"/>
                <a:ea typeface="Cambria" pitchFamily="34" charset="-122"/>
                <a:cs typeface="Cambria" pitchFamily="34" charset="-120"/>
              </a:rPr>
              <a:t>The monsoon</a:t>
            </a:r>
            <a:endParaRPr lang="en-US" sz="1800" dirty="0"/>
          </a:p>
        </p:txBody>
      </p:sp>
      <p:sp>
        <p:nvSpPr>
          <p:cNvPr id="10" name="The monsoon text"/>
          <p:cNvSpPr txBox="1"/>
          <p:nvPr/>
        </p:nvSpPr>
        <p:spPr>
          <a:xfrm>
            <a:off x="4480560" y="3218688"/>
            <a:ext cx="3200400" cy="1600200"/>
          </a:xfrm>
          <a:prstGeom prst="rect">
            <a:avLst/>
          </a:prstGeom>
          <a:noFill/>
          <a:ln/>
        </p:spPr>
        <p:txBody>
          <a:bodyPr wrap="square" lIns="0" tIns="0" rIns="0" bIns="0" rtlCol="0" anchor="t"/>
          <a:lstStyle/>
          <a:p>
            <a:pPr indent="0" marL="0">
              <a:buNone/>
            </a:pPr>
            <a:r>
              <a:rPr lang="en-US" sz="1550" dirty="0">
                <a:solidFill>
                  <a:srgbClr val="1E2533"/>
                </a:solidFill>
              </a:rPr>
              <a:t>June–September rains bring about three-quarters of India's yearly rainfall (IMD), shaping farming, food, festivals and daily life.</a:t>
            </a:r>
            <a:endParaRPr lang="en-US" sz="1550" dirty="0"/>
          </a:p>
        </p:txBody>
      </p:sp>
      <p:sp>
        <p:nvSpPr>
          <p:cNvPr id="11" name="Language, cinema and cricket card"/>
          <p:cNvSpPr/>
          <p:nvPr/>
        </p:nvSpPr>
        <p:spPr>
          <a:xfrm>
            <a:off x="8046720" y="1325880"/>
            <a:ext cx="3566160" cy="3520440"/>
          </a:xfrm>
          <a:prstGeom prst="roundRect">
            <a:avLst>
              <a:gd name="adj" fmla="val 2597"/>
            </a:avLst>
          </a:prstGeom>
          <a:solidFill>
            <a:srgbClr val="FFFFFF"/>
          </a:solidFill>
          <a:ln w="12700">
            <a:solidFill>
              <a:srgbClr val="E2D8C3"/>
            </a:solidFill>
            <a:prstDash val="solid"/>
          </a:ln>
        </p:spPr>
      </p:sp>
      <p:pic>
        <p:nvPicPr>
          <p:cNvPr id="12" name="Language, cinema and cricket photo" descr="Crowd watching a cricket match at Eden Gardens, Kolkata">    </p:cNvPr>
          <p:cNvPicPr>
            <a:picLocks noChangeAspect="1"/>
          </p:cNvPicPr>
          <p:nvPr/>
        </p:nvPicPr>
        <p:blipFill>
          <a:blip r:embed="rId3"/>
          <a:srcRect l="0" r="0" t="0" b="0"/>
          <a:stretch/>
        </p:blipFill>
        <p:spPr>
          <a:xfrm>
            <a:off x="8156448" y="1435608"/>
            <a:ext cx="3346704" cy="1325880"/>
          </a:xfrm>
          <a:prstGeom prst="rect">
            <a:avLst/>
          </a:prstGeom>
        </p:spPr>
      </p:pic>
      <p:sp>
        <p:nvSpPr>
          <p:cNvPr id="13" name="Language, cinema and cricket heading"/>
          <p:cNvSpPr txBox="1"/>
          <p:nvPr/>
        </p:nvSpPr>
        <p:spPr>
          <a:xfrm>
            <a:off x="8229600" y="2834640"/>
            <a:ext cx="3200400" cy="384048"/>
          </a:xfrm>
          <a:prstGeom prst="rect">
            <a:avLst/>
          </a:prstGeom>
          <a:noFill/>
          <a:ln/>
        </p:spPr>
        <p:txBody>
          <a:bodyPr wrap="square" lIns="0" tIns="0" rIns="0" bIns="0" rtlCol="0" anchor="t"/>
          <a:lstStyle/>
          <a:p>
            <a:pPr indent="0" marL="0">
              <a:buNone/>
            </a:pPr>
            <a:r>
              <a:rPr lang="en-US" sz="1800" b="1" dirty="0">
                <a:solidFill>
                  <a:srgbClr val="1F2F4F"/>
                </a:solidFill>
                <a:latin typeface="Cambria" pitchFamily="34" charset="0"/>
                <a:ea typeface="Cambria" pitchFamily="34" charset="-122"/>
                <a:cs typeface="Cambria" pitchFamily="34" charset="-120"/>
              </a:rPr>
              <a:t>Language, cinema and cricket</a:t>
            </a:r>
            <a:endParaRPr lang="en-US" sz="1800" dirty="0"/>
          </a:p>
        </p:txBody>
      </p:sp>
      <p:sp>
        <p:nvSpPr>
          <p:cNvPr id="14" name="Language, cinema and cricket text"/>
          <p:cNvSpPr txBox="1"/>
          <p:nvPr/>
        </p:nvSpPr>
        <p:spPr>
          <a:xfrm>
            <a:off x="8229600" y="3218688"/>
            <a:ext cx="3200400" cy="1600200"/>
          </a:xfrm>
          <a:prstGeom prst="rect">
            <a:avLst/>
          </a:prstGeom>
          <a:noFill/>
          <a:ln/>
        </p:spPr>
        <p:txBody>
          <a:bodyPr wrap="square" lIns="0" tIns="0" rIns="0" bIns="0" rtlCol="0" anchor="t"/>
          <a:lstStyle/>
          <a:p>
            <a:pPr indent="0" marL="0">
              <a:buNone/>
            </a:pPr>
            <a:r>
              <a:rPr lang="en-US" sz="1550" dirty="0">
                <a:solidFill>
                  <a:srgbClr val="1E2533"/>
                </a:solidFill>
              </a:rPr>
              <a:t>Hindi and English are the Union's official languages; Bollywood spreads Hindi and cricket draws fans nationwide. Yet Hindi is the mother tongue of 43.6% (Census 2011).</a:t>
            </a:r>
            <a:endParaRPr lang="en-US" sz="1550" dirty="0"/>
          </a:p>
        </p:txBody>
      </p:sp>
      <p:sp>
        <p:nvSpPr>
          <p:cNvPr id="15" name="Festival strip label"/>
          <p:cNvSpPr txBox="1"/>
          <p:nvPr/>
        </p:nvSpPr>
        <p:spPr>
          <a:xfrm>
            <a:off x="548640" y="4956048"/>
            <a:ext cx="11064240" cy="320040"/>
          </a:xfrm>
          <a:prstGeom prst="rect">
            <a:avLst/>
          </a:prstGeom>
          <a:noFill/>
          <a:ln/>
        </p:spPr>
        <p:txBody>
          <a:bodyPr wrap="square" lIns="0" tIns="0" rIns="0" bIns="0" rtlCol="0" anchor="t"/>
          <a:lstStyle/>
          <a:p>
            <a:pPr indent="0" marL="0">
              <a:buNone/>
            </a:pPr>
            <a:r>
              <a:rPr lang="en-US" sz="1500" b="1" dirty="0">
                <a:solidFill>
                  <a:srgbClr val="8F5216"/>
                </a:solidFill>
              </a:rPr>
              <a:t>Around 14 January — one harvest festival, many names (textbook, p. 76):</a:t>
            </a:r>
            <a:endParaRPr lang="en-US" sz="1500" dirty="0"/>
          </a:p>
        </p:txBody>
      </p:sp>
      <p:sp>
        <p:nvSpPr>
          <p:cNvPr id="16" name="Festival chip 1"/>
          <p:cNvSpPr/>
          <p:nvPr/>
        </p:nvSpPr>
        <p:spPr>
          <a:xfrm>
            <a:off x="548640" y="5321808"/>
            <a:ext cx="2697480" cy="329184"/>
          </a:xfrm>
          <a:prstGeom prst="roundRect">
            <a:avLst>
              <a:gd name="adj" fmla="val 50000"/>
            </a:avLst>
          </a:prstGeom>
          <a:solidFill>
            <a:srgbClr val="F8EBDD"/>
          </a:solidFill>
          <a:ln w="12700">
            <a:solidFill>
              <a:srgbClr val="F8EBDD"/>
            </a:solidFill>
            <a:prstDash val="solid"/>
          </a:ln>
        </p:spPr>
      </p:sp>
      <p:sp>
        <p:nvSpPr>
          <p:cNvPr id="17" name="Festival 1"/>
          <p:cNvSpPr txBox="1"/>
          <p:nvPr/>
        </p:nvSpPr>
        <p:spPr>
          <a:xfrm>
            <a:off x="594360" y="5321808"/>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Makar Sankranti · UP, Bihar, MP, Delhi</a:t>
            </a:r>
            <a:endParaRPr lang="en-US" sz="1250" dirty="0"/>
          </a:p>
        </p:txBody>
      </p:sp>
      <p:sp>
        <p:nvSpPr>
          <p:cNvPr id="18" name="Festival chip 2"/>
          <p:cNvSpPr/>
          <p:nvPr/>
        </p:nvSpPr>
        <p:spPr>
          <a:xfrm>
            <a:off x="3337560" y="5321808"/>
            <a:ext cx="2697480" cy="329184"/>
          </a:xfrm>
          <a:prstGeom prst="roundRect">
            <a:avLst>
              <a:gd name="adj" fmla="val 50000"/>
            </a:avLst>
          </a:prstGeom>
          <a:solidFill>
            <a:srgbClr val="E3EEE7"/>
          </a:solidFill>
          <a:ln w="12700">
            <a:solidFill>
              <a:srgbClr val="E3EEE7"/>
            </a:solidFill>
            <a:prstDash val="solid"/>
          </a:ln>
        </p:spPr>
      </p:sp>
      <p:sp>
        <p:nvSpPr>
          <p:cNvPr id="19" name="Festival 2"/>
          <p:cNvSpPr txBox="1"/>
          <p:nvPr/>
        </p:nvSpPr>
        <p:spPr>
          <a:xfrm>
            <a:off x="3383280" y="5321808"/>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Uttarayan · Gujarat</a:t>
            </a:r>
            <a:endParaRPr lang="en-US" sz="1250" dirty="0"/>
          </a:p>
        </p:txBody>
      </p:sp>
      <p:sp>
        <p:nvSpPr>
          <p:cNvPr id="20" name="Festival chip 3"/>
          <p:cNvSpPr/>
          <p:nvPr/>
        </p:nvSpPr>
        <p:spPr>
          <a:xfrm>
            <a:off x="6126480" y="5321808"/>
            <a:ext cx="2697480" cy="329184"/>
          </a:xfrm>
          <a:prstGeom prst="roundRect">
            <a:avLst>
              <a:gd name="adj" fmla="val 50000"/>
            </a:avLst>
          </a:prstGeom>
          <a:solidFill>
            <a:srgbClr val="F8EBDD"/>
          </a:solidFill>
          <a:ln w="12700">
            <a:solidFill>
              <a:srgbClr val="F8EBDD"/>
            </a:solidFill>
            <a:prstDash val="solid"/>
          </a:ln>
        </p:spPr>
      </p:sp>
      <p:sp>
        <p:nvSpPr>
          <p:cNvPr id="21" name="Festival 3"/>
          <p:cNvSpPr txBox="1"/>
          <p:nvPr/>
        </p:nvSpPr>
        <p:spPr>
          <a:xfrm>
            <a:off x="6172200" y="5321808"/>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Magh Bihu · Assam</a:t>
            </a:r>
            <a:endParaRPr lang="en-US" sz="1250" dirty="0"/>
          </a:p>
        </p:txBody>
      </p:sp>
      <p:sp>
        <p:nvSpPr>
          <p:cNvPr id="22" name="Festival chip 4"/>
          <p:cNvSpPr/>
          <p:nvPr/>
        </p:nvSpPr>
        <p:spPr>
          <a:xfrm>
            <a:off x="8915400" y="5321808"/>
            <a:ext cx="2697480" cy="329184"/>
          </a:xfrm>
          <a:prstGeom prst="roundRect">
            <a:avLst>
              <a:gd name="adj" fmla="val 50000"/>
            </a:avLst>
          </a:prstGeom>
          <a:solidFill>
            <a:srgbClr val="E3EEE7"/>
          </a:solidFill>
          <a:ln w="12700">
            <a:solidFill>
              <a:srgbClr val="E3EEE7"/>
            </a:solidFill>
            <a:prstDash val="solid"/>
          </a:ln>
        </p:spPr>
      </p:sp>
      <p:sp>
        <p:nvSpPr>
          <p:cNvPr id="23" name="Festival 4"/>
          <p:cNvSpPr txBox="1"/>
          <p:nvPr/>
        </p:nvSpPr>
        <p:spPr>
          <a:xfrm>
            <a:off x="8961120" y="5321808"/>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Lohri · Punjab</a:t>
            </a:r>
            <a:endParaRPr lang="en-US" sz="1250" dirty="0"/>
          </a:p>
        </p:txBody>
      </p:sp>
      <p:sp>
        <p:nvSpPr>
          <p:cNvPr id="24" name="Festival chip 5"/>
          <p:cNvSpPr/>
          <p:nvPr/>
        </p:nvSpPr>
        <p:spPr>
          <a:xfrm>
            <a:off x="548640" y="5705856"/>
            <a:ext cx="2697480" cy="329184"/>
          </a:xfrm>
          <a:prstGeom prst="roundRect">
            <a:avLst>
              <a:gd name="adj" fmla="val 50000"/>
            </a:avLst>
          </a:prstGeom>
          <a:solidFill>
            <a:srgbClr val="F8EBDD"/>
          </a:solidFill>
          <a:ln w="12700">
            <a:solidFill>
              <a:srgbClr val="F8EBDD"/>
            </a:solidFill>
            <a:prstDash val="solid"/>
          </a:ln>
        </p:spPr>
      </p:sp>
      <p:sp>
        <p:nvSpPr>
          <p:cNvPr id="25" name="Festival 5"/>
          <p:cNvSpPr txBox="1"/>
          <p:nvPr/>
        </p:nvSpPr>
        <p:spPr>
          <a:xfrm>
            <a:off x="594360" y="5705856"/>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Thai Pongal · Tamil Nadu</a:t>
            </a:r>
            <a:endParaRPr lang="en-US" sz="1250" dirty="0"/>
          </a:p>
        </p:txBody>
      </p:sp>
      <p:sp>
        <p:nvSpPr>
          <p:cNvPr id="26" name="Festival chip 6"/>
          <p:cNvSpPr/>
          <p:nvPr/>
        </p:nvSpPr>
        <p:spPr>
          <a:xfrm>
            <a:off x="3337560" y="5705856"/>
            <a:ext cx="2697480" cy="329184"/>
          </a:xfrm>
          <a:prstGeom prst="roundRect">
            <a:avLst>
              <a:gd name="adj" fmla="val 50000"/>
            </a:avLst>
          </a:prstGeom>
          <a:solidFill>
            <a:srgbClr val="E3EEE7"/>
          </a:solidFill>
          <a:ln w="12700">
            <a:solidFill>
              <a:srgbClr val="E3EEE7"/>
            </a:solidFill>
            <a:prstDash val="solid"/>
          </a:ln>
        </p:spPr>
      </p:sp>
      <p:sp>
        <p:nvSpPr>
          <p:cNvPr id="27" name="Festival 6"/>
          <p:cNvSpPr txBox="1"/>
          <p:nvPr/>
        </p:nvSpPr>
        <p:spPr>
          <a:xfrm>
            <a:off x="3383280" y="5705856"/>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Suggi Habba · Karnataka</a:t>
            </a:r>
            <a:endParaRPr lang="en-US" sz="1250" dirty="0"/>
          </a:p>
        </p:txBody>
      </p:sp>
      <p:sp>
        <p:nvSpPr>
          <p:cNvPr id="28" name="Festival chip 7"/>
          <p:cNvSpPr/>
          <p:nvPr/>
        </p:nvSpPr>
        <p:spPr>
          <a:xfrm>
            <a:off x="6126480" y="5705856"/>
            <a:ext cx="2697480" cy="329184"/>
          </a:xfrm>
          <a:prstGeom prst="roundRect">
            <a:avLst>
              <a:gd name="adj" fmla="val 50000"/>
            </a:avLst>
          </a:prstGeom>
          <a:solidFill>
            <a:srgbClr val="F8EBDD"/>
          </a:solidFill>
          <a:ln w="12700">
            <a:solidFill>
              <a:srgbClr val="F8EBDD"/>
            </a:solidFill>
            <a:prstDash val="solid"/>
          </a:ln>
        </p:spPr>
      </p:sp>
      <p:sp>
        <p:nvSpPr>
          <p:cNvPr id="29" name="Festival 7"/>
          <p:cNvSpPr txBox="1"/>
          <p:nvPr/>
        </p:nvSpPr>
        <p:spPr>
          <a:xfrm>
            <a:off x="6172200" y="5705856"/>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Shishur Saenkrant · Kashmir</a:t>
            </a:r>
            <a:endParaRPr lang="en-US" sz="1250" dirty="0"/>
          </a:p>
        </p:txBody>
      </p:sp>
      <p:sp>
        <p:nvSpPr>
          <p:cNvPr id="30" name="Festival chip 8"/>
          <p:cNvSpPr/>
          <p:nvPr/>
        </p:nvSpPr>
        <p:spPr>
          <a:xfrm>
            <a:off x="8915400" y="5705856"/>
            <a:ext cx="2697480" cy="329184"/>
          </a:xfrm>
          <a:prstGeom prst="roundRect">
            <a:avLst>
              <a:gd name="adj" fmla="val 50000"/>
            </a:avLst>
          </a:prstGeom>
          <a:solidFill>
            <a:srgbClr val="E3EEE7"/>
          </a:solidFill>
          <a:ln w="12700">
            <a:solidFill>
              <a:srgbClr val="E3EEE7"/>
            </a:solidFill>
            <a:prstDash val="solid"/>
          </a:ln>
        </p:spPr>
      </p:sp>
      <p:sp>
        <p:nvSpPr>
          <p:cNvPr id="31" name="Festival 8"/>
          <p:cNvSpPr txBox="1"/>
          <p:nvPr/>
        </p:nvSpPr>
        <p:spPr>
          <a:xfrm>
            <a:off x="8961120" y="5705856"/>
            <a:ext cx="2606040" cy="329184"/>
          </a:xfrm>
          <a:prstGeom prst="rect">
            <a:avLst/>
          </a:prstGeom>
          <a:noFill/>
          <a:ln/>
        </p:spPr>
        <p:txBody>
          <a:bodyPr wrap="square" lIns="0" tIns="0" rIns="0" bIns="0" rtlCol="0" anchor="ctr"/>
          <a:lstStyle/>
          <a:p>
            <a:pPr algn="ctr" indent="0" marL="0">
              <a:buNone/>
            </a:pPr>
            <a:r>
              <a:rPr lang="en-US" sz="1250" b="1" dirty="0">
                <a:solidFill>
                  <a:srgbClr val="1F2F4F"/>
                </a:solidFill>
              </a:rPr>
              <a:t>Poush Sankranti · West Bengal</a:t>
            </a:r>
            <a:endParaRPr lang="en-US" sz="1250" dirty="0"/>
          </a:p>
        </p:txBody>
      </p:sp>
      <p:sp>
        <p:nvSpPr>
          <p:cNvPr id="32"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 76; India Meteorological Department (2022); Census 2011 language tables (C-16, C-17); Constitution of India, Art. 343.</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Debates: representation and affirmative action</a:t>
            </a:r>
            <a:endParaRPr lang="en-US" sz="3200" dirty="0"/>
          </a:p>
        </p:txBody>
      </p:sp>
      <p:sp>
        <p:nvSpPr>
          <p:cNvPr id="3" name="Col head 1"/>
          <p:cNvSpPr txBox="1"/>
          <p:nvPr/>
        </p:nvSpPr>
        <p:spPr>
          <a:xfrm>
            <a:off x="2697480" y="1234440"/>
            <a:ext cx="2834640" cy="320040"/>
          </a:xfrm>
          <a:prstGeom prst="rect">
            <a:avLst/>
          </a:prstGeom>
          <a:noFill/>
          <a:ln/>
        </p:spPr>
        <p:txBody>
          <a:bodyPr wrap="square" lIns="0" tIns="0" rIns="0" bIns="0" rtlCol="0" anchor="t"/>
          <a:lstStyle/>
          <a:p>
            <a:pPr indent="0" marL="0">
              <a:buNone/>
            </a:pPr>
            <a:r>
              <a:rPr lang="en-US" sz="1400" b="1" dirty="0">
                <a:solidFill>
                  <a:srgbClr val="1E5A43"/>
                </a:solidFill>
              </a:rPr>
              <a:t>One view</a:t>
            </a:r>
            <a:endParaRPr lang="en-US" sz="1400" dirty="0"/>
          </a:p>
        </p:txBody>
      </p:sp>
      <p:sp>
        <p:nvSpPr>
          <p:cNvPr id="4" name="Col head 2"/>
          <p:cNvSpPr txBox="1"/>
          <p:nvPr/>
        </p:nvSpPr>
        <p:spPr>
          <a:xfrm>
            <a:off x="5623560" y="1234440"/>
            <a:ext cx="2834640" cy="320040"/>
          </a:xfrm>
          <a:prstGeom prst="rect">
            <a:avLst/>
          </a:prstGeom>
          <a:noFill/>
          <a:ln/>
        </p:spPr>
        <p:txBody>
          <a:bodyPr wrap="square" lIns="0" tIns="0" rIns="0" bIns="0" rtlCol="0" anchor="t"/>
          <a:lstStyle/>
          <a:p>
            <a:pPr indent="0" marL="0">
              <a:buNone/>
            </a:pPr>
            <a:r>
              <a:rPr lang="en-US" sz="1400" b="1" dirty="0">
                <a:solidFill>
                  <a:srgbClr val="8F5216"/>
                </a:solidFill>
              </a:rPr>
              <a:t>Another view</a:t>
            </a:r>
            <a:endParaRPr lang="en-US" sz="1400" dirty="0"/>
          </a:p>
        </p:txBody>
      </p:sp>
      <p:sp>
        <p:nvSpPr>
          <p:cNvPr id="5" name="Col head 3"/>
          <p:cNvSpPr txBox="1"/>
          <p:nvPr/>
        </p:nvSpPr>
        <p:spPr>
          <a:xfrm>
            <a:off x="8549640" y="1234440"/>
            <a:ext cx="3063240" cy="320040"/>
          </a:xfrm>
          <a:prstGeom prst="rect">
            <a:avLst/>
          </a:prstGeom>
          <a:noFill/>
          <a:ln/>
        </p:spPr>
        <p:txBody>
          <a:bodyPr wrap="square" lIns="0" tIns="0" rIns="0" bIns="0" rtlCol="0" anchor="t"/>
          <a:lstStyle/>
          <a:p>
            <a:pPr indent="0" marL="0">
              <a:buNone/>
            </a:pPr>
            <a:r>
              <a:rPr lang="en-US" sz="1400" b="1" dirty="0">
                <a:solidFill>
                  <a:srgbClr val="1F2F4F"/>
                </a:solidFill>
              </a:rPr>
              <a:t>Indian context</a:t>
            </a:r>
            <a:endParaRPr lang="en-US" sz="1400" dirty="0"/>
          </a:p>
        </p:txBody>
      </p:sp>
      <p:sp>
        <p:nvSpPr>
          <p:cNvPr id="6" name="Political representation label"/>
          <p:cNvSpPr/>
          <p:nvPr/>
        </p:nvSpPr>
        <p:spPr>
          <a:xfrm>
            <a:off x="548640" y="1600200"/>
            <a:ext cx="2057400" cy="2103120"/>
          </a:xfrm>
          <a:prstGeom prst="roundRect">
            <a:avLst>
              <a:gd name="adj" fmla="val 4444"/>
            </a:avLst>
          </a:prstGeom>
          <a:solidFill>
            <a:srgbClr val="1F2F4F"/>
          </a:solidFill>
          <a:ln w="12700">
            <a:solidFill>
              <a:srgbClr val="1F2F4F"/>
            </a:solidFill>
            <a:prstDash val="solid"/>
          </a:ln>
        </p:spPr>
      </p:sp>
      <p:sp>
        <p:nvSpPr>
          <p:cNvPr id="7" name="Political representation circle"/>
          <p:cNvSpPr/>
          <p:nvPr/>
        </p:nvSpPr>
        <p:spPr>
          <a:xfrm>
            <a:off x="731520" y="1783080"/>
            <a:ext cx="548640" cy="548640"/>
          </a:xfrm>
          <a:prstGeom prst="ellipse">
            <a:avLst/>
          </a:prstGeom>
          <a:solidFill>
            <a:srgbClr val="C8792A"/>
          </a:solidFill>
          <a:ln w="12700">
            <a:solidFill>
              <a:srgbClr val="C8792A"/>
            </a:solidFill>
            <a:prstDash val="solid"/>
          </a:ln>
        </p:spPr>
      </p:sp>
      <p:pic>
        <p:nvPicPr>
          <p:cNvPr id="8" name="Political representation icon" descr="preencoded.png">    </p:cNvPr>
          <p:cNvPicPr>
            <a:picLocks noChangeAspect="1"/>
          </p:cNvPicPr>
          <p:nvPr/>
        </p:nvPicPr>
        <p:blipFill>
          <a:blip r:embed="rId1"/>
          <a:stretch>
            <a:fillRect/>
          </a:stretch>
        </p:blipFill>
        <p:spPr>
          <a:xfrm>
            <a:off x="863194" y="1914754"/>
            <a:ext cx="285293" cy="285293"/>
          </a:xfrm>
          <a:prstGeom prst="rect">
            <a:avLst/>
          </a:prstGeom>
        </p:spPr>
      </p:pic>
      <p:sp>
        <p:nvSpPr>
          <p:cNvPr id="9" name="Political representation title"/>
          <p:cNvSpPr txBox="1"/>
          <p:nvPr/>
        </p:nvSpPr>
        <p:spPr>
          <a:xfrm>
            <a:off x="731520" y="2423160"/>
            <a:ext cx="1783080" cy="114300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Political representation</a:t>
            </a:r>
            <a:endParaRPr lang="en-US" sz="1800" dirty="0"/>
          </a:p>
        </p:txBody>
      </p:sp>
      <p:sp>
        <p:nvSpPr>
          <p:cNvPr id="10" name="Political representation view A card"/>
          <p:cNvSpPr/>
          <p:nvPr/>
        </p:nvSpPr>
        <p:spPr>
          <a:xfrm>
            <a:off x="2697480" y="1600200"/>
            <a:ext cx="2834640" cy="2103120"/>
          </a:xfrm>
          <a:prstGeom prst="roundRect">
            <a:avLst>
              <a:gd name="adj" fmla="val 4348"/>
            </a:avLst>
          </a:prstGeom>
          <a:solidFill>
            <a:srgbClr val="E3EEE7"/>
          </a:solidFill>
          <a:ln w="12700">
            <a:solidFill>
              <a:srgbClr val="E3EEE7"/>
            </a:solidFill>
            <a:prstDash val="solid"/>
          </a:ln>
        </p:spPr>
      </p:sp>
      <p:sp>
        <p:nvSpPr>
          <p:cNvPr id="11" name="Political representation view A"/>
          <p:cNvSpPr txBox="1"/>
          <p:nvPr/>
        </p:nvSpPr>
        <p:spPr>
          <a:xfrm>
            <a:off x="2880360" y="1764792"/>
            <a:ext cx="2468880" cy="1783080"/>
          </a:xfrm>
          <a:prstGeom prst="rect">
            <a:avLst/>
          </a:prstGeom>
          <a:noFill/>
          <a:ln/>
        </p:spPr>
        <p:txBody>
          <a:bodyPr wrap="square" lIns="0" tIns="0" rIns="0" bIns="0" rtlCol="0" anchor="t"/>
          <a:lstStyle/>
          <a:p>
            <a:pPr indent="0" marL="0">
              <a:buNone/>
            </a:pPr>
            <a:r>
              <a:rPr lang="en-US" sz="1800" dirty="0">
                <a:solidFill>
                  <a:srgbClr val="1E2533"/>
                </a:solidFill>
              </a:rPr>
              <a:t>Parties and institutions should mirror the diverse people they serve.</a:t>
            </a:r>
            <a:endParaRPr lang="en-US" sz="1800" dirty="0"/>
          </a:p>
        </p:txBody>
      </p:sp>
      <p:sp>
        <p:nvSpPr>
          <p:cNvPr id="12" name="Political representation view B card"/>
          <p:cNvSpPr/>
          <p:nvPr/>
        </p:nvSpPr>
        <p:spPr>
          <a:xfrm>
            <a:off x="5623560" y="1600200"/>
            <a:ext cx="2834640" cy="2103120"/>
          </a:xfrm>
          <a:prstGeom prst="roundRect">
            <a:avLst>
              <a:gd name="adj" fmla="val 4348"/>
            </a:avLst>
          </a:prstGeom>
          <a:solidFill>
            <a:srgbClr val="F8EBDD"/>
          </a:solidFill>
          <a:ln w="12700">
            <a:solidFill>
              <a:srgbClr val="F8EBDD"/>
            </a:solidFill>
            <a:prstDash val="solid"/>
          </a:ln>
        </p:spPr>
      </p:sp>
      <p:sp>
        <p:nvSpPr>
          <p:cNvPr id="13" name="Political representation view B"/>
          <p:cNvSpPr txBox="1"/>
          <p:nvPr/>
        </p:nvSpPr>
        <p:spPr>
          <a:xfrm>
            <a:off x="5806440" y="1764792"/>
            <a:ext cx="2468880" cy="1783080"/>
          </a:xfrm>
          <a:prstGeom prst="rect">
            <a:avLst/>
          </a:prstGeom>
          <a:noFill/>
          <a:ln/>
        </p:spPr>
        <p:txBody>
          <a:bodyPr wrap="square" lIns="0" tIns="0" rIns="0" bIns="0" rtlCol="0" anchor="t"/>
          <a:lstStyle/>
          <a:p>
            <a:pPr indent="0" marL="0">
              <a:buNone/>
            </a:pPr>
            <a:r>
              <a:rPr lang="en-US" sz="1800" dirty="0">
                <a:solidFill>
                  <a:srgbClr val="1E2533"/>
                </a:solidFill>
              </a:rPr>
              <a:t>Representatives should be chosen for ability, not identity.</a:t>
            </a:r>
            <a:endParaRPr lang="en-US" sz="1800" dirty="0"/>
          </a:p>
        </p:txBody>
      </p:sp>
      <p:sp>
        <p:nvSpPr>
          <p:cNvPr id="14" name="Political representation context card"/>
          <p:cNvSpPr/>
          <p:nvPr/>
        </p:nvSpPr>
        <p:spPr>
          <a:xfrm>
            <a:off x="8549640" y="1600200"/>
            <a:ext cx="3063240" cy="2103120"/>
          </a:xfrm>
          <a:prstGeom prst="roundRect">
            <a:avLst>
              <a:gd name="adj" fmla="val 4348"/>
            </a:avLst>
          </a:prstGeom>
          <a:solidFill>
            <a:srgbClr val="FFFFFF"/>
          </a:solidFill>
          <a:ln w="12700">
            <a:solidFill>
              <a:srgbClr val="E2D8C3"/>
            </a:solidFill>
            <a:prstDash val="solid"/>
          </a:ln>
        </p:spPr>
      </p:sp>
      <p:sp>
        <p:nvSpPr>
          <p:cNvPr id="15" name="Political representation context"/>
          <p:cNvSpPr txBox="1"/>
          <p:nvPr/>
        </p:nvSpPr>
        <p:spPr>
          <a:xfrm>
            <a:off x="8705088" y="1737360"/>
            <a:ext cx="2788920" cy="1874520"/>
          </a:xfrm>
          <a:prstGeom prst="rect">
            <a:avLst/>
          </a:prstGeom>
          <a:noFill/>
          <a:ln/>
        </p:spPr>
        <p:txBody>
          <a:bodyPr wrap="square" lIns="0" tIns="0" rIns="0" bIns="0" rtlCol="0" anchor="t"/>
          <a:lstStyle/>
          <a:p>
            <a:pPr indent="0" marL="0">
              <a:buNone/>
            </a:pPr>
            <a:r>
              <a:rPr lang="en-US" sz="1450" dirty="0">
                <a:solidFill>
                  <a:srgbClr val="1E2533"/>
                </a:solidFill>
              </a:rPr>
              <a:t>Lok Sabha reserves 84 seats for SCs and 47 for STs (Arts. 330, 332). One-third of seats for women (106th Amendment, 2023) begins only after the next census and delimitation.</a:t>
            </a:r>
            <a:endParaRPr lang="en-US" sz="1450" dirty="0"/>
          </a:p>
        </p:txBody>
      </p:sp>
      <p:sp>
        <p:nvSpPr>
          <p:cNvPr id="16" name="Affirmative action label"/>
          <p:cNvSpPr/>
          <p:nvPr/>
        </p:nvSpPr>
        <p:spPr>
          <a:xfrm>
            <a:off x="548640" y="3840480"/>
            <a:ext cx="2057400" cy="2103120"/>
          </a:xfrm>
          <a:prstGeom prst="roundRect">
            <a:avLst>
              <a:gd name="adj" fmla="val 4444"/>
            </a:avLst>
          </a:prstGeom>
          <a:solidFill>
            <a:srgbClr val="1F2F4F"/>
          </a:solidFill>
          <a:ln w="12700">
            <a:solidFill>
              <a:srgbClr val="1F2F4F"/>
            </a:solidFill>
            <a:prstDash val="solid"/>
          </a:ln>
        </p:spPr>
      </p:sp>
      <p:sp>
        <p:nvSpPr>
          <p:cNvPr id="17" name="Affirmative action circle"/>
          <p:cNvSpPr/>
          <p:nvPr/>
        </p:nvSpPr>
        <p:spPr>
          <a:xfrm>
            <a:off x="731520" y="4023360"/>
            <a:ext cx="548640" cy="548640"/>
          </a:xfrm>
          <a:prstGeom prst="ellipse">
            <a:avLst/>
          </a:prstGeom>
          <a:solidFill>
            <a:srgbClr val="C8792A"/>
          </a:solidFill>
          <a:ln w="12700">
            <a:solidFill>
              <a:srgbClr val="C8792A"/>
            </a:solidFill>
            <a:prstDash val="solid"/>
          </a:ln>
        </p:spPr>
      </p:sp>
      <p:pic>
        <p:nvPicPr>
          <p:cNvPr id="18" name="Affirmative action icon" descr="preencoded.png">    </p:cNvPr>
          <p:cNvPicPr>
            <a:picLocks noChangeAspect="1"/>
          </p:cNvPicPr>
          <p:nvPr/>
        </p:nvPicPr>
        <p:blipFill>
          <a:blip r:embed="rId2"/>
          <a:stretch>
            <a:fillRect/>
          </a:stretch>
        </p:blipFill>
        <p:spPr>
          <a:xfrm>
            <a:off x="863194" y="4155034"/>
            <a:ext cx="285293" cy="285293"/>
          </a:xfrm>
          <a:prstGeom prst="rect">
            <a:avLst/>
          </a:prstGeom>
        </p:spPr>
      </p:pic>
      <p:sp>
        <p:nvSpPr>
          <p:cNvPr id="19" name="Affirmative action title"/>
          <p:cNvSpPr txBox="1"/>
          <p:nvPr/>
        </p:nvSpPr>
        <p:spPr>
          <a:xfrm>
            <a:off x="731520" y="4663440"/>
            <a:ext cx="1783080" cy="114300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Affirmative action</a:t>
            </a:r>
            <a:endParaRPr lang="en-US" sz="1800" dirty="0"/>
          </a:p>
        </p:txBody>
      </p:sp>
      <p:sp>
        <p:nvSpPr>
          <p:cNvPr id="20" name="Affirmative action view A card"/>
          <p:cNvSpPr/>
          <p:nvPr/>
        </p:nvSpPr>
        <p:spPr>
          <a:xfrm>
            <a:off x="2697480" y="3840480"/>
            <a:ext cx="2834640" cy="2103120"/>
          </a:xfrm>
          <a:prstGeom prst="roundRect">
            <a:avLst>
              <a:gd name="adj" fmla="val 4348"/>
            </a:avLst>
          </a:prstGeom>
          <a:solidFill>
            <a:srgbClr val="E3EEE7"/>
          </a:solidFill>
          <a:ln w="12700">
            <a:solidFill>
              <a:srgbClr val="E3EEE7"/>
            </a:solidFill>
            <a:prstDash val="solid"/>
          </a:ln>
        </p:spPr>
      </p:sp>
      <p:sp>
        <p:nvSpPr>
          <p:cNvPr id="21" name="Affirmative action view A"/>
          <p:cNvSpPr txBox="1"/>
          <p:nvPr/>
        </p:nvSpPr>
        <p:spPr>
          <a:xfrm>
            <a:off x="2880360" y="4005072"/>
            <a:ext cx="2468880" cy="1783080"/>
          </a:xfrm>
          <a:prstGeom prst="rect">
            <a:avLst/>
          </a:prstGeom>
          <a:noFill/>
          <a:ln/>
        </p:spPr>
        <p:txBody>
          <a:bodyPr wrap="square" lIns="0" tIns="0" rIns="0" bIns="0" rtlCol="0" anchor="t"/>
          <a:lstStyle/>
          <a:p>
            <a:pPr indent="0" marL="0">
              <a:buNone/>
            </a:pPr>
            <a:r>
              <a:rPr lang="en-US" sz="1800" dirty="0">
                <a:solidFill>
                  <a:srgbClr val="1E2533"/>
                </a:solidFill>
              </a:rPr>
              <a:t>Reservation corrects historical prejudice against groups such as Dalits and Adivasis and secures real equality.</a:t>
            </a:r>
            <a:endParaRPr lang="en-US" sz="1800" dirty="0"/>
          </a:p>
        </p:txBody>
      </p:sp>
      <p:sp>
        <p:nvSpPr>
          <p:cNvPr id="22" name="Affirmative action view B card"/>
          <p:cNvSpPr/>
          <p:nvPr/>
        </p:nvSpPr>
        <p:spPr>
          <a:xfrm>
            <a:off x="5623560" y="3840480"/>
            <a:ext cx="2834640" cy="2103120"/>
          </a:xfrm>
          <a:prstGeom prst="roundRect">
            <a:avLst>
              <a:gd name="adj" fmla="val 4348"/>
            </a:avLst>
          </a:prstGeom>
          <a:solidFill>
            <a:srgbClr val="F8EBDD"/>
          </a:solidFill>
          <a:ln w="12700">
            <a:solidFill>
              <a:srgbClr val="F8EBDD"/>
            </a:solidFill>
            <a:prstDash val="solid"/>
          </a:ln>
        </p:spPr>
      </p:sp>
      <p:sp>
        <p:nvSpPr>
          <p:cNvPr id="23" name="Affirmative action view B"/>
          <p:cNvSpPr txBox="1"/>
          <p:nvPr/>
        </p:nvSpPr>
        <p:spPr>
          <a:xfrm>
            <a:off x="5806440" y="4005072"/>
            <a:ext cx="2468880" cy="1783080"/>
          </a:xfrm>
          <a:prstGeom prst="rect">
            <a:avLst/>
          </a:prstGeom>
          <a:noFill/>
          <a:ln/>
        </p:spPr>
        <p:txBody>
          <a:bodyPr wrap="square" lIns="0" tIns="0" rIns="0" bIns="0" rtlCol="0" anchor="t"/>
          <a:lstStyle/>
          <a:p>
            <a:pPr indent="0" marL="0">
              <a:buNone/>
            </a:pPr>
            <a:r>
              <a:rPr lang="en-US" sz="1800" dirty="0">
                <a:solidFill>
                  <a:srgbClr val="1E2533"/>
                </a:solidFill>
              </a:rPr>
              <a:t>Critics, mostly from dominant groups, call it discriminatory and say it replaces individual merit.</a:t>
            </a:r>
            <a:endParaRPr lang="en-US" sz="1800" dirty="0"/>
          </a:p>
        </p:txBody>
      </p:sp>
      <p:sp>
        <p:nvSpPr>
          <p:cNvPr id="24" name="Affirmative action context card"/>
          <p:cNvSpPr/>
          <p:nvPr/>
        </p:nvSpPr>
        <p:spPr>
          <a:xfrm>
            <a:off x="8549640" y="3840480"/>
            <a:ext cx="3063240" cy="2103120"/>
          </a:xfrm>
          <a:prstGeom prst="roundRect">
            <a:avLst>
              <a:gd name="adj" fmla="val 4348"/>
            </a:avLst>
          </a:prstGeom>
          <a:solidFill>
            <a:srgbClr val="FFFFFF"/>
          </a:solidFill>
          <a:ln w="12700">
            <a:solidFill>
              <a:srgbClr val="E2D8C3"/>
            </a:solidFill>
            <a:prstDash val="solid"/>
          </a:ln>
        </p:spPr>
      </p:sp>
      <p:sp>
        <p:nvSpPr>
          <p:cNvPr id="25" name="Affirmative action context"/>
          <p:cNvSpPr txBox="1"/>
          <p:nvPr/>
        </p:nvSpPr>
        <p:spPr>
          <a:xfrm>
            <a:off x="8705088" y="3977640"/>
            <a:ext cx="2788920" cy="1874520"/>
          </a:xfrm>
          <a:prstGeom prst="rect">
            <a:avLst/>
          </a:prstGeom>
          <a:noFill/>
          <a:ln/>
        </p:spPr>
        <p:txBody>
          <a:bodyPr wrap="square" lIns="0" tIns="0" rIns="0" bIns="0" rtlCol="0" anchor="t"/>
          <a:lstStyle/>
          <a:p>
            <a:pPr indent="0" marL="0">
              <a:buNone/>
            </a:pPr>
            <a:r>
              <a:rPr lang="en-US" sz="1450" dirty="0">
                <a:solidFill>
                  <a:srgbClr val="1E2533"/>
                </a:solidFill>
              </a:rPr>
              <a:t>Arts. 15(4), 16(4) allow quotas; Indra Sawhney (1992) set a 50% ceiling; the 10% EWS quota (2019) was upheld in 2022. Census 2027 will record caste.</a:t>
            </a:r>
            <a:endParaRPr lang="en-US" sz="1450" dirty="0"/>
          </a:p>
        </p:txBody>
      </p:sp>
      <p:sp>
        <p:nvSpPr>
          <p:cNvPr id="26"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pp. 76–77 (both views); Constitution of India; Indra Sawhney v. Union of India (1992); Janhit Abhiyan v. Union of India (2022); 106th Amendment Act, 2023.</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Debates: culture, work and migration</a:t>
            </a:r>
            <a:endParaRPr lang="en-US" sz="3200" dirty="0"/>
          </a:p>
        </p:txBody>
      </p:sp>
      <p:sp>
        <p:nvSpPr>
          <p:cNvPr id="3" name="Cultural appropriation card"/>
          <p:cNvSpPr/>
          <p:nvPr/>
        </p:nvSpPr>
        <p:spPr>
          <a:xfrm>
            <a:off x="548640" y="1325880"/>
            <a:ext cx="3566160" cy="3657600"/>
          </a:xfrm>
          <a:prstGeom prst="roundRect">
            <a:avLst>
              <a:gd name="adj" fmla="val 2564"/>
            </a:avLst>
          </a:prstGeom>
          <a:solidFill>
            <a:srgbClr val="FFFFFF"/>
          </a:solidFill>
          <a:ln w="12700">
            <a:solidFill>
              <a:srgbClr val="E2D8C3"/>
            </a:solidFill>
            <a:prstDash val="solid"/>
          </a:ln>
        </p:spPr>
      </p:sp>
      <p:sp>
        <p:nvSpPr>
          <p:cNvPr id="4" name="Cultural appropriation circle"/>
          <p:cNvSpPr/>
          <p:nvPr/>
        </p:nvSpPr>
        <p:spPr>
          <a:xfrm>
            <a:off x="731520" y="1481328"/>
            <a:ext cx="548640" cy="548640"/>
          </a:xfrm>
          <a:prstGeom prst="ellipse">
            <a:avLst/>
          </a:prstGeom>
          <a:solidFill>
            <a:srgbClr val="1E5A43"/>
          </a:solidFill>
          <a:ln w="12700">
            <a:solidFill>
              <a:srgbClr val="1E5A43"/>
            </a:solidFill>
            <a:prstDash val="solid"/>
          </a:ln>
        </p:spPr>
      </p:sp>
      <p:pic>
        <p:nvPicPr>
          <p:cNvPr id="5" name="Cultural appropriation icon" descr="preencoded.png">    </p:cNvPr>
          <p:cNvPicPr>
            <a:picLocks noChangeAspect="1"/>
          </p:cNvPicPr>
          <p:nvPr/>
        </p:nvPicPr>
        <p:blipFill>
          <a:blip r:embed="rId1"/>
          <a:stretch>
            <a:fillRect/>
          </a:stretch>
        </p:blipFill>
        <p:spPr>
          <a:xfrm>
            <a:off x="863194" y="1613002"/>
            <a:ext cx="285293" cy="285293"/>
          </a:xfrm>
          <a:prstGeom prst="rect">
            <a:avLst/>
          </a:prstGeom>
        </p:spPr>
      </p:pic>
      <p:sp>
        <p:nvSpPr>
          <p:cNvPr id="6" name="Cultural appropriation heading"/>
          <p:cNvSpPr txBox="1"/>
          <p:nvPr/>
        </p:nvSpPr>
        <p:spPr>
          <a:xfrm>
            <a:off x="1417320" y="1481328"/>
            <a:ext cx="2606040" cy="548640"/>
          </a:xfrm>
          <a:prstGeom prst="rect">
            <a:avLst/>
          </a:prstGeom>
          <a:noFill/>
          <a:ln/>
        </p:spPr>
        <p:txBody>
          <a:bodyPr wrap="square" lIns="0" tIns="0" rIns="0" bIns="0" rtlCol="0" anchor="ctr"/>
          <a:lstStyle/>
          <a:p>
            <a:pPr indent="0" marL="0">
              <a:buNone/>
            </a:pPr>
            <a:r>
              <a:rPr lang="en-US" sz="1800" b="1" dirty="0">
                <a:solidFill>
                  <a:srgbClr val="1F2F4F"/>
                </a:solidFill>
                <a:latin typeface="Cambria" pitchFamily="34" charset="0"/>
                <a:ea typeface="Cambria" pitchFamily="34" charset="-122"/>
                <a:cs typeface="Cambria" pitchFamily="34" charset="-120"/>
              </a:rPr>
              <a:t>Cultural appropriation</a:t>
            </a:r>
            <a:endParaRPr lang="en-US" sz="1800" dirty="0"/>
          </a:p>
        </p:txBody>
      </p:sp>
      <p:sp>
        <p:nvSpPr>
          <p:cNvPr id="7" name="Cultural appropriation views"/>
          <p:cNvSpPr txBox="1"/>
          <p:nvPr/>
        </p:nvSpPr>
        <p:spPr>
          <a:xfrm>
            <a:off x="731520" y="2148840"/>
            <a:ext cx="3200400" cy="1508760"/>
          </a:xfrm>
          <a:prstGeom prst="rect">
            <a:avLst/>
          </a:prstGeom>
          <a:noFill/>
          <a:ln/>
        </p:spPr>
        <p:txBody>
          <a:bodyPr wrap="square" lIns="0" tIns="0" rIns="0" bIns="0" rtlCol="0" anchor="t"/>
          <a:lstStyle/>
          <a:p>
            <a:pPr indent="0" marL="0">
              <a:spcAft>
                <a:spcPts val="600"/>
              </a:spcAft>
              <a:buNone/>
            </a:pPr>
            <a:r>
              <a:rPr lang="en-US" sz="1500" b="1" dirty="0">
                <a:solidFill>
                  <a:srgbClr val="1E5A43"/>
                </a:solidFill>
              </a:rPr>
              <a:t>Exchange: </a:t>
            </a:r>
            <a:pPr indent="0" marL="0">
              <a:spcAft>
                <a:spcPts val="600"/>
              </a:spcAft>
              <a:buNone/>
            </a:pPr>
            <a:r>
              <a:rPr lang="en-US" sz="1500" dirty="0">
                <a:solidFill>
                  <a:srgbClr val="1E2533"/>
                </a:solidFill>
              </a:rPr>
              <a:t>food, dress and ideas have always travelled; sharing connects people.</a:t>
            </a:r>
            <a:endParaRPr lang="en-US" sz="1500" dirty="0"/>
          </a:p>
          <a:p>
            <a:pPr indent="0" marL="0">
              <a:spcAft>
                <a:spcPts val="600"/>
              </a:spcAft>
              <a:buNone/>
            </a:pPr>
            <a:r>
              <a:rPr lang="en-US" sz="1500" b="1" dirty="0">
                <a:solidFill>
                  <a:srgbClr val="8F5216"/>
                </a:solidFill>
              </a:rPr>
              <a:t>Appropriation: </a:t>
            </a:r>
            <a:pPr indent="0" marL="0">
              <a:spcAft>
                <a:spcPts val="600"/>
              </a:spcAft>
              <a:buNone/>
            </a:pPr>
            <a:r>
              <a:rPr lang="en-US" sz="1500" dirty="0">
                <a:solidFill>
                  <a:srgbClr val="1E2533"/>
                </a:solidFill>
              </a:rPr>
              <a:t>taking a marginalised culture's traditions without credit can exploit or erase it.</a:t>
            </a:r>
            <a:endParaRPr lang="en-US" sz="1500" dirty="0"/>
          </a:p>
        </p:txBody>
      </p:sp>
      <p:sp>
        <p:nvSpPr>
          <p:cNvPr id="8" name="Cultural appropriation example card"/>
          <p:cNvSpPr/>
          <p:nvPr/>
        </p:nvSpPr>
        <p:spPr>
          <a:xfrm>
            <a:off x="685800" y="3703320"/>
            <a:ext cx="3291840" cy="1170432"/>
          </a:xfrm>
          <a:prstGeom prst="roundRect">
            <a:avLst>
              <a:gd name="adj" fmla="val 7813"/>
            </a:avLst>
          </a:prstGeom>
          <a:solidFill>
            <a:srgbClr val="FBF7EF"/>
          </a:solidFill>
          <a:ln w="12700">
            <a:solidFill>
              <a:srgbClr val="FBF7EF"/>
            </a:solidFill>
            <a:prstDash val="solid"/>
          </a:ln>
        </p:spPr>
      </p:sp>
      <p:sp>
        <p:nvSpPr>
          <p:cNvPr id="9" name="Cultural appropriation example"/>
          <p:cNvSpPr txBox="1"/>
          <p:nvPr/>
        </p:nvSpPr>
        <p:spPr>
          <a:xfrm>
            <a:off x="804672" y="3767328"/>
            <a:ext cx="3072384" cy="1060704"/>
          </a:xfrm>
          <a:prstGeom prst="rect">
            <a:avLst/>
          </a:prstGeom>
          <a:noFill/>
          <a:ln/>
        </p:spPr>
        <p:txBody>
          <a:bodyPr wrap="square" lIns="0" tIns="0" rIns="0" bIns="0" rtlCol="0" anchor="t"/>
          <a:lstStyle/>
          <a:p>
            <a:pPr indent="0" marL="0">
              <a:buNone/>
            </a:pPr>
            <a:r>
              <a:rPr lang="en-US" sz="1350" dirty="0">
                <a:solidFill>
                  <a:srgbClr val="1E2533"/>
                </a:solidFill>
              </a:rPr>
              <a:t>Example: Prada's 2025 sandals resembled GI-tagged Kolhapuri chappals; after protests it acknowledged the Indian inspiration.</a:t>
            </a:r>
            <a:endParaRPr lang="en-US" sz="1350" dirty="0"/>
          </a:p>
        </p:txBody>
      </p:sp>
      <p:sp>
        <p:nvSpPr>
          <p:cNvPr id="10" name="Diversity at work card"/>
          <p:cNvSpPr/>
          <p:nvPr/>
        </p:nvSpPr>
        <p:spPr>
          <a:xfrm>
            <a:off x="4297680" y="1325880"/>
            <a:ext cx="3566160" cy="3657600"/>
          </a:xfrm>
          <a:prstGeom prst="roundRect">
            <a:avLst>
              <a:gd name="adj" fmla="val 2564"/>
            </a:avLst>
          </a:prstGeom>
          <a:solidFill>
            <a:srgbClr val="FFFFFF"/>
          </a:solidFill>
          <a:ln w="12700">
            <a:solidFill>
              <a:srgbClr val="E2D8C3"/>
            </a:solidFill>
            <a:prstDash val="solid"/>
          </a:ln>
        </p:spPr>
      </p:sp>
      <p:sp>
        <p:nvSpPr>
          <p:cNvPr id="11" name="Diversity at work circle"/>
          <p:cNvSpPr/>
          <p:nvPr/>
        </p:nvSpPr>
        <p:spPr>
          <a:xfrm>
            <a:off x="4480560" y="1481328"/>
            <a:ext cx="548640" cy="548640"/>
          </a:xfrm>
          <a:prstGeom prst="ellipse">
            <a:avLst/>
          </a:prstGeom>
          <a:solidFill>
            <a:srgbClr val="C8792A"/>
          </a:solidFill>
          <a:ln w="12700">
            <a:solidFill>
              <a:srgbClr val="C8792A"/>
            </a:solidFill>
            <a:prstDash val="solid"/>
          </a:ln>
        </p:spPr>
      </p:sp>
      <p:pic>
        <p:nvPicPr>
          <p:cNvPr id="12" name="Diversity at work icon" descr="preencoded.png">    </p:cNvPr>
          <p:cNvPicPr>
            <a:picLocks noChangeAspect="1"/>
          </p:cNvPicPr>
          <p:nvPr/>
        </p:nvPicPr>
        <p:blipFill>
          <a:blip r:embed="rId2"/>
          <a:stretch>
            <a:fillRect/>
          </a:stretch>
        </p:blipFill>
        <p:spPr>
          <a:xfrm>
            <a:off x="4612234" y="1613002"/>
            <a:ext cx="285293" cy="285293"/>
          </a:xfrm>
          <a:prstGeom prst="rect">
            <a:avLst/>
          </a:prstGeom>
        </p:spPr>
      </p:pic>
      <p:sp>
        <p:nvSpPr>
          <p:cNvPr id="13" name="Diversity at work heading"/>
          <p:cNvSpPr txBox="1"/>
          <p:nvPr/>
        </p:nvSpPr>
        <p:spPr>
          <a:xfrm>
            <a:off x="5166360" y="1481328"/>
            <a:ext cx="2606040" cy="548640"/>
          </a:xfrm>
          <a:prstGeom prst="rect">
            <a:avLst/>
          </a:prstGeom>
          <a:noFill/>
          <a:ln/>
        </p:spPr>
        <p:txBody>
          <a:bodyPr wrap="square" lIns="0" tIns="0" rIns="0" bIns="0" rtlCol="0" anchor="ctr"/>
          <a:lstStyle/>
          <a:p>
            <a:pPr indent="0" marL="0">
              <a:buNone/>
            </a:pPr>
            <a:r>
              <a:rPr lang="en-US" sz="1800" b="1" dirty="0">
                <a:solidFill>
                  <a:srgbClr val="1F2F4F"/>
                </a:solidFill>
                <a:latin typeface="Cambria" pitchFamily="34" charset="0"/>
                <a:ea typeface="Cambria" pitchFamily="34" charset="-122"/>
                <a:cs typeface="Cambria" pitchFamily="34" charset="-120"/>
              </a:rPr>
              <a:t>Diversity at work</a:t>
            </a:r>
            <a:endParaRPr lang="en-US" sz="1800" dirty="0"/>
          </a:p>
        </p:txBody>
      </p:sp>
      <p:sp>
        <p:nvSpPr>
          <p:cNvPr id="14" name="Diversity at work views"/>
          <p:cNvSpPr txBox="1"/>
          <p:nvPr/>
        </p:nvSpPr>
        <p:spPr>
          <a:xfrm>
            <a:off x="4480560" y="2148840"/>
            <a:ext cx="3200400" cy="1508760"/>
          </a:xfrm>
          <a:prstGeom prst="rect">
            <a:avLst/>
          </a:prstGeom>
          <a:noFill/>
          <a:ln/>
        </p:spPr>
        <p:txBody>
          <a:bodyPr wrap="square" lIns="0" tIns="0" rIns="0" bIns="0" rtlCol="0" anchor="t"/>
          <a:lstStyle/>
          <a:p>
            <a:pPr indent="0" marL="0">
              <a:spcAft>
                <a:spcPts val="600"/>
              </a:spcAft>
              <a:buNone/>
            </a:pPr>
            <a:r>
              <a:rPr lang="en-US" sz="1500" b="1" dirty="0">
                <a:solidFill>
                  <a:srgbClr val="1E5A43"/>
                </a:solidFill>
              </a:rPr>
              <a:t>For: </a:t>
            </a:r>
            <a:pPr indent="0" marL="0">
              <a:spcAft>
                <a:spcPts val="600"/>
              </a:spcAft>
              <a:buNone/>
            </a:pPr>
            <a:r>
              <a:rPr lang="en-US" sz="1500" dirty="0">
                <a:solidFill>
                  <a:srgbClr val="1E2533"/>
                </a:solidFill>
              </a:rPr>
              <a:t>diverse teams aid creativity; firms should promote diversity in hiring and promotion.</a:t>
            </a:r>
            <a:endParaRPr lang="en-US" sz="1500" dirty="0"/>
          </a:p>
          <a:p>
            <a:pPr indent="0" marL="0">
              <a:spcAft>
                <a:spcPts val="600"/>
              </a:spcAft>
              <a:buNone/>
            </a:pPr>
            <a:r>
              <a:rPr lang="en-US" sz="1500" b="1" dirty="0">
                <a:solidFill>
                  <a:srgbClr val="8F5216"/>
                </a:solidFill>
              </a:rPr>
              <a:t>Against: </a:t>
            </a:r>
            <a:pPr indent="0" marL="0">
              <a:spcAft>
                <a:spcPts val="600"/>
              </a:spcAft>
              <a:buNone/>
            </a:pPr>
            <a:r>
              <a:rPr lang="en-US" sz="1500" dirty="0">
                <a:solidFill>
                  <a:srgbClr val="1E2533"/>
                </a:solidFill>
              </a:rPr>
              <a:t>the most qualified applicant should come first.</a:t>
            </a:r>
            <a:endParaRPr lang="en-US" sz="1500" dirty="0"/>
          </a:p>
        </p:txBody>
      </p:sp>
      <p:sp>
        <p:nvSpPr>
          <p:cNvPr id="15" name="Diversity at work example card"/>
          <p:cNvSpPr/>
          <p:nvPr/>
        </p:nvSpPr>
        <p:spPr>
          <a:xfrm>
            <a:off x="4434840" y="3703320"/>
            <a:ext cx="3291840" cy="1170432"/>
          </a:xfrm>
          <a:prstGeom prst="roundRect">
            <a:avLst>
              <a:gd name="adj" fmla="val 7813"/>
            </a:avLst>
          </a:prstGeom>
          <a:solidFill>
            <a:srgbClr val="FBF7EF"/>
          </a:solidFill>
          <a:ln w="12700">
            <a:solidFill>
              <a:srgbClr val="FBF7EF"/>
            </a:solidFill>
            <a:prstDash val="solid"/>
          </a:ln>
        </p:spPr>
      </p:sp>
      <p:sp>
        <p:nvSpPr>
          <p:cNvPr id="16" name="Diversity at work example"/>
          <p:cNvSpPr txBox="1"/>
          <p:nvPr/>
        </p:nvSpPr>
        <p:spPr>
          <a:xfrm>
            <a:off x="4553712" y="3767328"/>
            <a:ext cx="3072384" cy="1060704"/>
          </a:xfrm>
          <a:prstGeom prst="rect">
            <a:avLst/>
          </a:prstGeom>
          <a:noFill/>
          <a:ln/>
        </p:spPr>
        <p:txBody>
          <a:bodyPr wrap="square" lIns="0" tIns="0" rIns="0" bIns="0" rtlCol="0" anchor="t"/>
          <a:lstStyle/>
          <a:p>
            <a:pPr indent="0" marL="0">
              <a:buNone/>
            </a:pPr>
            <a:r>
              <a:rPr lang="en-US" sz="1350" dirty="0">
                <a:solidFill>
                  <a:srgbClr val="1E2533"/>
                </a:solidFill>
              </a:rPr>
              <a:t>Example: large and listed companies must have a woman director (Companies Act, 2013). Haryana's 75% local-jobs quota was struck down by the High Court (2023).</a:t>
            </a:r>
            <a:endParaRPr lang="en-US" sz="1350" dirty="0"/>
          </a:p>
        </p:txBody>
      </p:sp>
      <p:sp>
        <p:nvSpPr>
          <p:cNvPr id="17" name="Immigration and nationalism card"/>
          <p:cNvSpPr/>
          <p:nvPr/>
        </p:nvSpPr>
        <p:spPr>
          <a:xfrm>
            <a:off x="8046720" y="1325880"/>
            <a:ext cx="3566160" cy="3657600"/>
          </a:xfrm>
          <a:prstGeom prst="roundRect">
            <a:avLst>
              <a:gd name="adj" fmla="val 2564"/>
            </a:avLst>
          </a:prstGeom>
          <a:solidFill>
            <a:srgbClr val="FFFFFF"/>
          </a:solidFill>
          <a:ln w="12700">
            <a:solidFill>
              <a:srgbClr val="E2D8C3"/>
            </a:solidFill>
            <a:prstDash val="solid"/>
          </a:ln>
        </p:spPr>
      </p:sp>
      <p:sp>
        <p:nvSpPr>
          <p:cNvPr id="18" name="Immigration and nationalism circle"/>
          <p:cNvSpPr/>
          <p:nvPr/>
        </p:nvSpPr>
        <p:spPr>
          <a:xfrm>
            <a:off x="8229600" y="1481328"/>
            <a:ext cx="548640" cy="548640"/>
          </a:xfrm>
          <a:prstGeom prst="ellipse">
            <a:avLst/>
          </a:prstGeom>
          <a:solidFill>
            <a:srgbClr val="1E5A43"/>
          </a:solidFill>
          <a:ln w="12700">
            <a:solidFill>
              <a:srgbClr val="1E5A43"/>
            </a:solidFill>
            <a:prstDash val="solid"/>
          </a:ln>
        </p:spPr>
      </p:sp>
      <p:pic>
        <p:nvPicPr>
          <p:cNvPr id="19" name="Immigration and nationalism icon" descr="preencoded.png">    </p:cNvPr>
          <p:cNvPicPr>
            <a:picLocks noChangeAspect="1"/>
          </p:cNvPicPr>
          <p:nvPr/>
        </p:nvPicPr>
        <p:blipFill>
          <a:blip r:embed="rId3"/>
          <a:stretch>
            <a:fillRect/>
          </a:stretch>
        </p:blipFill>
        <p:spPr>
          <a:xfrm>
            <a:off x="8361274" y="1613002"/>
            <a:ext cx="285293" cy="285293"/>
          </a:xfrm>
          <a:prstGeom prst="rect">
            <a:avLst/>
          </a:prstGeom>
        </p:spPr>
      </p:pic>
      <p:sp>
        <p:nvSpPr>
          <p:cNvPr id="20" name="Immigration and nationalism heading"/>
          <p:cNvSpPr txBox="1"/>
          <p:nvPr/>
        </p:nvSpPr>
        <p:spPr>
          <a:xfrm>
            <a:off x="8915400" y="1481328"/>
            <a:ext cx="2606040" cy="548640"/>
          </a:xfrm>
          <a:prstGeom prst="rect">
            <a:avLst/>
          </a:prstGeom>
          <a:noFill/>
          <a:ln/>
        </p:spPr>
        <p:txBody>
          <a:bodyPr wrap="square" lIns="0" tIns="0" rIns="0" bIns="0" rtlCol="0" anchor="ctr"/>
          <a:lstStyle/>
          <a:p>
            <a:pPr indent="0" marL="0">
              <a:buNone/>
            </a:pPr>
            <a:r>
              <a:rPr lang="en-US" sz="1800" b="1" dirty="0">
                <a:solidFill>
                  <a:srgbClr val="1F2F4F"/>
                </a:solidFill>
                <a:latin typeface="Cambria" pitchFamily="34" charset="0"/>
                <a:ea typeface="Cambria" pitchFamily="34" charset="-122"/>
                <a:cs typeface="Cambria" pitchFamily="34" charset="-120"/>
              </a:rPr>
              <a:t>Immigration and nationalism</a:t>
            </a:r>
            <a:endParaRPr lang="en-US" sz="1800" dirty="0"/>
          </a:p>
        </p:txBody>
      </p:sp>
      <p:sp>
        <p:nvSpPr>
          <p:cNvPr id="21" name="Immigration and nationalism views"/>
          <p:cNvSpPr txBox="1"/>
          <p:nvPr/>
        </p:nvSpPr>
        <p:spPr>
          <a:xfrm>
            <a:off x="8229600" y="2148840"/>
            <a:ext cx="3200400" cy="1508760"/>
          </a:xfrm>
          <a:prstGeom prst="rect">
            <a:avLst/>
          </a:prstGeom>
          <a:noFill/>
          <a:ln/>
        </p:spPr>
        <p:txBody>
          <a:bodyPr wrap="square" lIns="0" tIns="0" rIns="0" bIns="0" rtlCol="0" anchor="t"/>
          <a:lstStyle/>
          <a:p>
            <a:pPr indent="0" marL="0">
              <a:spcAft>
                <a:spcPts val="600"/>
              </a:spcAft>
              <a:buNone/>
            </a:pPr>
            <a:r>
              <a:rPr lang="en-US" sz="1500" b="1" dirty="0">
                <a:solidFill>
                  <a:srgbClr val="1E5A43"/>
                </a:solidFill>
              </a:rPr>
              <a:t>For: </a:t>
            </a:r>
            <a:pPr indent="0" marL="0">
              <a:spcAft>
                <a:spcPts val="600"/>
              </a:spcAft>
              <a:buNone/>
            </a:pPr>
            <a:r>
              <a:rPr lang="en-US" sz="1500" dirty="0">
                <a:solidFill>
                  <a:srgbClr val="1E2533"/>
                </a:solidFill>
              </a:rPr>
              <a:t>migration drives economic development.</a:t>
            </a:r>
            <a:endParaRPr lang="en-US" sz="1500" dirty="0"/>
          </a:p>
          <a:p>
            <a:pPr indent="0" marL="0">
              <a:spcAft>
                <a:spcPts val="600"/>
              </a:spcAft>
              <a:buNone/>
            </a:pPr>
            <a:r>
              <a:rPr lang="en-US" sz="1500" b="1" dirty="0">
                <a:solidFill>
                  <a:srgbClr val="8F5216"/>
                </a:solidFill>
              </a:rPr>
              <a:t>Concern: </a:t>
            </a:r>
            <a:pPr indent="0" marL="0">
              <a:spcAft>
                <a:spcPts val="600"/>
              </a:spcAft>
              <a:buNone/>
            </a:pPr>
            <a:r>
              <a:rPr lang="en-US" sz="1500" dirty="0">
                <a:solidFill>
                  <a:srgbClr val="1E2533"/>
                </a:solidFill>
              </a:rPr>
              <a:t>some fear it weakens national identity and security — a contested view.</a:t>
            </a:r>
            <a:endParaRPr lang="en-US" sz="1500" dirty="0"/>
          </a:p>
        </p:txBody>
      </p:sp>
      <p:sp>
        <p:nvSpPr>
          <p:cNvPr id="22" name="Immigration and nationalism example card"/>
          <p:cNvSpPr/>
          <p:nvPr/>
        </p:nvSpPr>
        <p:spPr>
          <a:xfrm>
            <a:off x="8183880" y="3703320"/>
            <a:ext cx="3291840" cy="1170432"/>
          </a:xfrm>
          <a:prstGeom prst="roundRect">
            <a:avLst>
              <a:gd name="adj" fmla="val 7813"/>
            </a:avLst>
          </a:prstGeom>
          <a:solidFill>
            <a:srgbClr val="FBF7EF"/>
          </a:solidFill>
          <a:ln w="12700">
            <a:solidFill>
              <a:srgbClr val="FBF7EF"/>
            </a:solidFill>
            <a:prstDash val="solid"/>
          </a:ln>
        </p:spPr>
      </p:sp>
      <p:sp>
        <p:nvSpPr>
          <p:cNvPr id="23" name="Immigration and nationalism example"/>
          <p:cNvSpPr txBox="1"/>
          <p:nvPr/>
        </p:nvSpPr>
        <p:spPr>
          <a:xfrm>
            <a:off x="8302752" y="3767328"/>
            <a:ext cx="3072384" cy="1060704"/>
          </a:xfrm>
          <a:prstGeom prst="rect">
            <a:avLst/>
          </a:prstGeom>
          <a:noFill/>
          <a:ln/>
        </p:spPr>
        <p:txBody>
          <a:bodyPr wrap="square" lIns="0" tIns="0" rIns="0" bIns="0" rtlCol="0" anchor="t"/>
          <a:lstStyle/>
          <a:p>
            <a:pPr indent="0" marL="0">
              <a:buNone/>
            </a:pPr>
            <a:r>
              <a:rPr lang="en-US" sz="1350" dirty="0">
                <a:solidFill>
                  <a:srgbClr val="1E2533"/>
                </a:solidFill>
              </a:rPr>
              <a:t>Example: 45.6 crore internal migrants (Census 2011); debates over the CAA (2019) and Assam's NRC (2019); immigration debates in the USA.</a:t>
            </a:r>
            <a:endParaRPr lang="en-US" sz="1350" dirty="0"/>
          </a:p>
        </p:txBody>
      </p:sp>
      <p:sp>
        <p:nvSpPr>
          <p:cNvPr id="24" name="Synthesis band"/>
          <p:cNvSpPr/>
          <p:nvPr/>
        </p:nvSpPr>
        <p:spPr>
          <a:xfrm>
            <a:off x="548640" y="5120640"/>
            <a:ext cx="11064240" cy="841248"/>
          </a:xfrm>
          <a:prstGeom prst="roundRect">
            <a:avLst>
              <a:gd name="adj" fmla="val 10870"/>
            </a:avLst>
          </a:prstGeom>
          <a:solidFill>
            <a:srgbClr val="1F2F4F"/>
          </a:solidFill>
          <a:ln w="12700">
            <a:solidFill>
              <a:srgbClr val="1F2F4F"/>
            </a:solidFill>
            <a:prstDash val="solid"/>
          </a:ln>
        </p:spPr>
      </p:sp>
      <p:sp>
        <p:nvSpPr>
          <p:cNvPr id="25" name="Synthesis"/>
          <p:cNvSpPr txBox="1"/>
          <p:nvPr/>
        </p:nvSpPr>
        <p:spPr>
          <a:xfrm>
            <a:off x="822960" y="5166360"/>
            <a:ext cx="10515600" cy="749808"/>
          </a:xfrm>
          <a:prstGeom prst="rect">
            <a:avLst/>
          </a:prstGeom>
          <a:noFill/>
          <a:ln/>
        </p:spPr>
        <p:txBody>
          <a:bodyPr wrap="square" lIns="0" tIns="0" rIns="0" bIns="0" rtlCol="0" anchor="ctr"/>
          <a:lstStyle/>
          <a:p>
            <a:pPr indent="0" marL="0">
              <a:buNone/>
            </a:pPr>
            <a:r>
              <a:rPr lang="en-US" sz="1700" b="1" dirty="0">
                <a:solidFill>
                  <a:srgbClr val="F2C28B"/>
                </a:solidFill>
              </a:rPr>
              <a:t>Common thread: </a:t>
            </a:r>
            <a:pPr indent="0" marL="0">
              <a:buNone/>
            </a:pPr>
            <a:r>
              <a:rPr lang="en-US" sz="1700" dirty="0">
                <a:solidFill>
                  <a:srgbClr val="FFFFFF"/>
                </a:solidFill>
              </a:rPr>
              <a:t>each debate asks how to combine equal rights and openness with respect for difference. The answers depend on fair rules and institutions.</a:t>
            </a:r>
            <a:endParaRPr lang="en-US" sz="1700" dirty="0"/>
          </a:p>
        </p:txBody>
      </p:sp>
      <p:sp>
        <p:nvSpPr>
          <p:cNvPr id="26"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100" i="1" dirty="0">
                <a:solidFill>
                  <a:srgbClr val="5E6673"/>
                </a:solidFill>
              </a:rPr>
              <a:t>Sources: Textbook, p. 77; Companies Act 2013, s. 149(1); P&amp;H High Court, Nov 2023; Census 2011 migration tables (D-series); news reports on Prada (June–July 2025).</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Conclusion and references</a:t>
            </a:r>
            <a:endParaRPr lang="en-US" sz="3200" dirty="0"/>
          </a:p>
        </p:txBody>
      </p:sp>
      <p:sp>
        <p:nvSpPr>
          <p:cNvPr id="3" name="Central quote"/>
          <p:cNvSpPr txBox="1"/>
          <p:nvPr/>
        </p:nvSpPr>
        <p:spPr>
          <a:xfrm>
            <a:off x="548640" y="1280160"/>
            <a:ext cx="5577840" cy="1234440"/>
          </a:xfrm>
          <a:prstGeom prst="rect">
            <a:avLst/>
          </a:prstGeom>
          <a:noFill/>
          <a:ln/>
        </p:spPr>
        <p:txBody>
          <a:bodyPr wrap="square" lIns="0" tIns="0" rIns="0" bIns="0" rtlCol="0" anchor="t"/>
          <a:lstStyle/>
          <a:p>
            <a:pPr indent="0" marL="0">
              <a:buNone/>
            </a:pPr>
            <a:r>
              <a:rPr lang="en-US" sz="2200" b="1" i="1" dirty="0">
                <a:solidFill>
                  <a:srgbClr val="F2C28B"/>
                </a:solidFill>
                <a:latin typeface="Cambria" pitchFamily="34" charset="0"/>
                <a:ea typeface="Cambria" pitchFamily="34" charset="-122"/>
                <a:cs typeface="Cambria" pitchFamily="34" charset="-120"/>
              </a:rPr>
              <a:t>“The problem does not lie in diversity but in the handling of diversity in any society.”</a:t>
            </a:r>
            <a:endParaRPr lang="en-US" sz="2200" dirty="0"/>
          </a:p>
        </p:txBody>
      </p:sp>
      <p:sp>
        <p:nvSpPr>
          <p:cNvPr id="4" name="Quote source"/>
          <p:cNvSpPr txBox="1"/>
          <p:nvPr/>
        </p:nvSpPr>
        <p:spPr>
          <a:xfrm>
            <a:off x="548640" y="2240280"/>
            <a:ext cx="5577840" cy="274320"/>
          </a:xfrm>
          <a:prstGeom prst="rect">
            <a:avLst/>
          </a:prstGeom>
          <a:noFill/>
          <a:ln/>
        </p:spPr>
        <p:txBody>
          <a:bodyPr wrap="square" lIns="0" tIns="0" rIns="0" bIns="0" rtlCol="0" anchor="t"/>
          <a:lstStyle/>
          <a:p>
            <a:pPr indent="0" marL="0">
              <a:buNone/>
            </a:pPr>
            <a:r>
              <a:rPr lang="en-US" sz="1300" dirty="0">
                <a:solidFill>
                  <a:srgbClr val="C9D2E3"/>
                </a:solidFill>
              </a:rPr>
              <a:t>— Textbook, p. 77</a:t>
            </a:r>
            <a:endParaRPr lang="en-US" sz="1300" dirty="0"/>
          </a:p>
        </p:txBody>
      </p:sp>
      <p:sp>
        <p:nvSpPr>
          <p:cNvPr id="5" name="Takeaway circle 1"/>
          <p:cNvSpPr/>
          <p:nvPr/>
        </p:nvSpPr>
        <p:spPr>
          <a:xfrm>
            <a:off x="548640" y="2880360"/>
            <a:ext cx="438912" cy="438912"/>
          </a:xfrm>
          <a:prstGeom prst="ellipse">
            <a:avLst/>
          </a:prstGeom>
          <a:solidFill>
            <a:srgbClr val="C8792A"/>
          </a:solidFill>
          <a:ln w="12700">
            <a:solidFill>
              <a:srgbClr val="C8792A"/>
            </a:solidFill>
            <a:prstDash val="solid"/>
          </a:ln>
        </p:spPr>
      </p:sp>
      <p:sp>
        <p:nvSpPr>
          <p:cNvPr id="6" name="Takeaway number 1"/>
          <p:cNvSpPr txBox="1"/>
          <p:nvPr/>
        </p:nvSpPr>
        <p:spPr>
          <a:xfrm>
            <a:off x="548640" y="2880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akeaway 1"/>
          <p:cNvSpPr txBox="1"/>
          <p:nvPr/>
        </p:nvSpPr>
        <p:spPr>
          <a:xfrm>
            <a:off x="1143000" y="2843784"/>
            <a:ext cx="4983480" cy="960120"/>
          </a:xfrm>
          <a:prstGeom prst="rect">
            <a:avLst/>
          </a:prstGeom>
          <a:noFill/>
          <a:ln/>
        </p:spPr>
        <p:txBody>
          <a:bodyPr wrap="square" lIns="0" tIns="0" rIns="0" bIns="0" rtlCol="0" anchor="t"/>
          <a:lstStyle/>
          <a:p>
            <a:pPr indent="0" marL="0">
              <a:buNone/>
            </a:pPr>
            <a:r>
              <a:rPr lang="en-US" sz="1600" dirty="0">
                <a:solidFill>
                  <a:srgbClr val="FFFFFF"/>
                </a:solidFill>
              </a:rPr>
              <a:t>Diversity is multidimensional: religion, language, caste, region, class, gender and more.</a:t>
            </a:r>
            <a:endParaRPr lang="en-US" sz="1600" dirty="0"/>
          </a:p>
        </p:txBody>
      </p:sp>
      <p:sp>
        <p:nvSpPr>
          <p:cNvPr id="8" name="Takeaway circle 2"/>
          <p:cNvSpPr/>
          <p:nvPr/>
        </p:nvSpPr>
        <p:spPr>
          <a:xfrm>
            <a:off x="548640" y="3931920"/>
            <a:ext cx="438912" cy="438912"/>
          </a:xfrm>
          <a:prstGeom prst="ellipse">
            <a:avLst/>
          </a:prstGeom>
          <a:solidFill>
            <a:srgbClr val="C8792A"/>
          </a:solidFill>
          <a:ln w="12700">
            <a:solidFill>
              <a:srgbClr val="C8792A"/>
            </a:solidFill>
            <a:prstDash val="solid"/>
          </a:ln>
        </p:spPr>
      </p:sp>
      <p:sp>
        <p:nvSpPr>
          <p:cNvPr id="9" name="Takeaway number 2"/>
          <p:cNvSpPr txBox="1"/>
          <p:nvPr/>
        </p:nvSpPr>
        <p:spPr>
          <a:xfrm>
            <a:off x="548640" y="39319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akeaway 2"/>
          <p:cNvSpPr txBox="1"/>
          <p:nvPr/>
        </p:nvSpPr>
        <p:spPr>
          <a:xfrm>
            <a:off x="1143000" y="3895344"/>
            <a:ext cx="4983480" cy="960120"/>
          </a:xfrm>
          <a:prstGeom prst="rect">
            <a:avLst/>
          </a:prstGeom>
          <a:noFill/>
          <a:ln/>
        </p:spPr>
        <p:txBody>
          <a:bodyPr wrap="square" lIns="0" tIns="0" rIns="0" bIns="0" rtlCol="0" anchor="t"/>
          <a:lstStyle/>
          <a:p>
            <a:pPr indent="0" marL="0">
              <a:buNone/>
            </a:pPr>
            <a:r>
              <a:rPr lang="en-US" sz="1600" dirty="0">
                <a:solidFill>
                  <a:srgbClr val="FFFFFF"/>
                </a:solidFill>
              </a:rPr>
              <a:t>Unity rests on constitutional values (equality, rights, secularism) and shared everyday life, not on sameness.</a:t>
            </a:r>
            <a:endParaRPr lang="en-US" sz="1600" dirty="0"/>
          </a:p>
        </p:txBody>
      </p:sp>
      <p:sp>
        <p:nvSpPr>
          <p:cNvPr id="11" name="Takeaway circle 3"/>
          <p:cNvSpPr/>
          <p:nvPr/>
        </p:nvSpPr>
        <p:spPr>
          <a:xfrm>
            <a:off x="548640" y="4983480"/>
            <a:ext cx="438912" cy="438912"/>
          </a:xfrm>
          <a:prstGeom prst="ellipse">
            <a:avLst/>
          </a:prstGeom>
          <a:solidFill>
            <a:srgbClr val="C8792A"/>
          </a:solidFill>
          <a:ln w="12700">
            <a:solidFill>
              <a:srgbClr val="C8792A"/>
            </a:solidFill>
            <a:prstDash val="solid"/>
          </a:ln>
        </p:spPr>
      </p:sp>
      <p:sp>
        <p:nvSpPr>
          <p:cNvPr id="12" name="Takeaway number 3"/>
          <p:cNvSpPr txBox="1"/>
          <p:nvPr/>
        </p:nvSpPr>
        <p:spPr>
          <a:xfrm>
            <a:off x="548640" y="49834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akeaway 3"/>
          <p:cNvSpPr txBox="1"/>
          <p:nvPr/>
        </p:nvSpPr>
        <p:spPr>
          <a:xfrm>
            <a:off x="1143000" y="4946904"/>
            <a:ext cx="4983480" cy="960120"/>
          </a:xfrm>
          <a:prstGeom prst="rect">
            <a:avLst/>
          </a:prstGeom>
          <a:noFill/>
          <a:ln/>
        </p:spPr>
        <p:txBody>
          <a:bodyPr wrap="square" lIns="0" tIns="0" rIns="0" bIns="0" rtlCol="0" anchor="t"/>
          <a:lstStyle/>
          <a:p>
            <a:pPr indent="0" marL="0">
              <a:buNone/>
            </a:pPr>
            <a:r>
              <a:rPr lang="en-US" sz="1600" dirty="0">
                <a:solidFill>
                  <a:srgbClr val="FFFFFF"/>
                </a:solidFill>
              </a:rPr>
              <a:t>Debates on quotas, culture, work and migration are about including everyone fairly. Diversity is neither automatic harmony nor the problem itself.</a:t>
            </a:r>
            <a:endParaRPr lang="en-US" sz="1600" dirty="0"/>
          </a:p>
        </p:txBody>
      </p:sp>
      <p:sp>
        <p:nvSpPr>
          <p:cNvPr id="14" name="References card"/>
          <p:cNvSpPr/>
          <p:nvPr/>
        </p:nvSpPr>
        <p:spPr>
          <a:xfrm>
            <a:off x="6400800" y="1280160"/>
            <a:ext cx="5212080" cy="5029200"/>
          </a:xfrm>
          <a:prstGeom prst="roundRect">
            <a:avLst>
              <a:gd name="adj" fmla="val 1818"/>
            </a:avLst>
          </a:prstGeom>
          <a:solidFill>
            <a:srgbClr val="FBF7EF"/>
          </a:solidFill>
          <a:ln w="12700">
            <a:solidFill>
              <a:srgbClr val="FBF7EF"/>
            </a:solidFill>
            <a:prstDash val="solid"/>
          </a:ln>
        </p:spPr>
      </p:sp>
      <p:sp>
        <p:nvSpPr>
          <p:cNvPr id="15" name="References heading"/>
          <p:cNvSpPr txBox="1"/>
          <p:nvPr/>
        </p:nvSpPr>
        <p:spPr>
          <a:xfrm>
            <a:off x="6629400" y="1389888"/>
            <a:ext cx="4754880" cy="365760"/>
          </a:xfrm>
          <a:prstGeom prst="rect">
            <a:avLst/>
          </a:prstGeom>
          <a:noFill/>
          <a:ln/>
        </p:spPr>
        <p:txBody>
          <a:bodyPr wrap="square" lIns="0" tIns="0" rIns="0" bIns="0" rtlCol="0" anchor="t"/>
          <a:lstStyle/>
          <a:p>
            <a:pPr indent="0" marL="0">
              <a:buNone/>
            </a:pPr>
            <a:r>
              <a:rPr lang="en-US" sz="1500" b="1" dirty="0">
                <a:solidFill>
                  <a:srgbClr val="1F2F4F"/>
                </a:solidFill>
              </a:rPr>
              <a:t>References (APA 7th)</a:t>
            </a:r>
            <a:endParaRPr lang="en-US" sz="1500" dirty="0"/>
          </a:p>
        </p:txBody>
      </p:sp>
      <p:sp>
        <p:nvSpPr>
          <p:cNvPr id="16" name="Reference list"/>
          <p:cNvSpPr txBox="1"/>
          <p:nvPr/>
        </p:nvSpPr>
        <p:spPr>
          <a:xfrm>
            <a:off x="6629400" y="1810512"/>
            <a:ext cx="4754880" cy="4434840"/>
          </a:xfrm>
          <a:prstGeom prst="rect">
            <a:avLst/>
          </a:prstGeom>
          <a:noFill/>
          <a:ln/>
        </p:spPr>
        <p:txBody>
          <a:bodyPr wrap="square" lIns="0" tIns="0" rIns="0" bIns="0" rtlCol="0" anchor="t"/>
          <a:lstStyle/>
          <a:p>
            <a:pPr indent="0" marL="0">
              <a:spcAft>
                <a:spcPts val="400"/>
              </a:spcAft>
              <a:buNone/>
            </a:pPr>
            <a:r>
              <a:rPr lang="en-US" sz="1150" dirty="0">
                <a:solidFill>
                  <a:srgbClr val="1E2533"/>
                </a:solidFill>
              </a:rPr>
              <a:t>Batham, M. (2023). Diversity, representation, and globalisation and global issues. In Theory and practice of democracy (Unit IV, pp. 72–77). DDCE, School of Open Learning, University of Delhi. [Primary source]</a:t>
            </a:r>
            <a:endParaRPr lang="en-US" sz="1150" dirty="0"/>
          </a:p>
          <a:p>
            <a:pPr indent="0" marL="0">
              <a:spcAft>
                <a:spcPts val="400"/>
              </a:spcAft>
              <a:buNone/>
            </a:pPr>
            <a:r>
              <a:rPr lang="en-US" sz="1150" dirty="0">
                <a:solidFill>
                  <a:srgbClr val="1E2533"/>
                </a:solidFill>
              </a:rPr>
              <a:t>Constitution of India (as amended). Arts. 14–16, 19, 25–28, 330, 332, 343; Eighth Schedule.</a:t>
            </a:r>
            <a:endParaRPr lang="en-US" sz="1150" dirty="0"/>
          </a:p>
          <a:p>
            <a:pPr indent="0" marL="0">
              <a:spcAft>
                <a:spcPts val="400"/>
              </a:spcAft>
              <a:buNone/>
            </a:pPr>
            <a:r>
              <a:rPr lang="en-US" sz="1150" dirty="0">
                <a:solidFill>
                  <a:srgbClr val="1E2533"/>
                </a:solidFill>
              </a:rPr>
              <a:t>Office of the Registrar General &amp; Census Commissioner, India. (2018). Census of India 2011: Language (Paper 1 of 2018); religion (C-1) and migration (D-series) tables.</a:t>
            </a:r>
            <a:endParaRPr lang="en-US" sz="1150" dirty="0"/>
          </a:p>
          <a:p>
            <a:pPr indent="0" marL="0">
              <a:spcAft>
                <a:spcPts val="400"/>
              </a:spcAft>
              <a:buNone/>
            </a:pPr>
            <a:r>
              <a:rPr lang="en-US" sz="1150" dirty="0">
                <a:solidFill>
                  <a:srgbClr val="1E2533"/>
                </a:solidFill>
              </a:rPr>
              <a:t>Guha, B. S. (1935). The racial affinities of the people of India. Census of India 1931, Vol. I, Part III.</a:t>
            </a:r>
            <a:endParaRPr lang="en-US" sz="1150" dirty="0"/>
          </a:p>
          <a:p>
            <a:pPr indent="0" marL="0">
              <a:spcAft>
                <a:spcPts val="400"/>
              </a:spcAft>
              <a:buNone/>
            </a:pPr>
            <a:r>
              <a:rPr lang="en-US" sz="1150" dirty="0">
                <a:solidFill>
                  <a:srgbClr val="1E2533"/>
                </a:solidFill>
              </a:rPr>
              <a:t>Reich, D., et al. (2009). Reconstructing Indian population history. Nature, 461, 489–494.</a:t>
            </a:r>
            <a:endParaRPr lang="en-US" sz="1150" dirty="0"/>
          </a:p>
          <a:p>
            <a:pPr indent="0" marL="0">
              <a:spcAft>
                <a:spcPts val="400"/>
              </a:spcAft>
              <a:buNone/>
            </a:pPr>
            <a:r>
              <a:rPr lang="en-US" sz="1150" dirty="0">
                <a:solidFill>
                  <a:srgbClr val="1E2533"/>
                </a:solidFill>
              </a:rPr>
              <a:t>Narasimhan, V. M., et al. (2019). The formation of human populations in South and Central Asia. Science, 365(6457).</a:t>
            </a:r>
            <a:endParaRPr lang="en-US" sz="1150" dirty="0"/>
          </a:p>
          <a:p>
            <a:pPr indent="0" marL="0">
              <a:spcAft>
                <a:spcPts val="400"/>
              </a:spcAft>
              <a:buNone/>
            </a:pPr>
            <a:r>
              <a:rPr lang="en-US" sz="1150" dirty="0">
                <a:solidFill>
                  <a:srgbClr val="1E2533"/>
                </a:solidFill>
              </a:rPr>
              <a:t>American Association of Physical Anthropologists. (2019). AAPA statement on race and racism.</a:t>
            </a:r>
            <a:endParaRPr lang="en-US" sz="1150" dirty="0"/>
          </a:p>
          <a:p>
            <a:pPr indent="0" marL="0">
              <a:spcAft>
                <a:spcPts val="400"/>
              </a:spcAft>
              <a:buNone/>
            </a:pPr>
            <a:r>
              <a:rPr lang="en-US" sz="1150" dirty="0">
                <a:solidFill>
                  <a:srgbClr val="1E2533"/>
                </a:solidFill>
              </a:rPr>
              <a:t>Dirks, N. B. (2001). Castes of mind. Princeton University Press.</a:t>
            </a:r>
            <a:endParaRPr lang="en-US" sz="1150" dirty="0"/>
          </a:p>
          <a:p>
            <a:pPr indent="0" marL="0">
              <a:spcAft>
                <a:spcPts val="400"/>
              </a:spcAft>
              <a:buNone/>
            </a:pPr>
            <a:r>
              <a:rPr lang="en-US" sz="1150" dirty="0">
                <a:solidFill>
                  <a:srgbClr val="1E2533"/>
                </a:solidFill>
              </a:rPr>
              <a:t>India Meteorological Department. (2022). All-India rainfall normal revised to 87 cm (1971–2020).</a:t>
            </a:r>
            <a:endParaRPr lang="en-US" sz="1150" dirty="0"/>
          </a:p>
          <a:p>
            <a:pPr indent="0" marL="0">
              <a:spcAft>
                <a:spcPts val="400"/>
              </a:spcAft>
              <a:buNone/>
            </a:pPr>
            <a:r>
              <a:rPr lang="en-US" sz="1150" dirty="0">
                <a:solidFill>
                  <a:srgbClr val="1E2533"/>
                </a:solidFill>
              </a:rPr>
              <a:t>Indra Sawhney v. Union of India (1992); Janhit Abhiyan v. Union of India (2022). Supreme Court of India.</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2E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lural India">
  <a:themeElements>
    <a:clrScheme name="Plural India">
      <a:dk1>
        <a:srgbClr val="1E2533"/>
      </a:dk1>
      <a:lt1>
        <a:srgbClr val="FFFFFF"/>
      </a:lt1>
      <a:dk2>
        <a:srgbClr val="1F2F4F"/>
      </a:dk2>
      <a:lt2>
        <a:srgbClr val="FBF7EF"/>
      </a:lt2>
      <a:accent1>
        <a:srgbClr val="1E5A43"/>
      </a:accent1>
      <a:accent2>
        <a:srgbClr val="C8792A"/>
      </a:accent2>
      <a:accent3>
        <a:srgbClr val="3E6E8E"/>
      </a:accent3>
      <a:accent4>
        <a:srgbClr val="A8C3B4"/>
      </a:accent4>
      <a:accent5>
        <a:srgbClr val="EFE6D2"/>
      </a:accent5>
      <a:accent6>
        <a:srgbClr val="7A8794"/>
      </a:accent6>
      <a:hlink>
        <a:srgbClr val="1E5A43"/>
      </a:hlink>
      <a:folHlink>
        <a:srgbClr val="3E6E8E"/>
      </a:folHlink>
    </a:clrScheme>
    <a:fontScheme name="Plural Ind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Diversity: Understanding India's Social and Cultural Plurality</dc:title>
  <dc:subject>BA Programme (Economics and Political Science) presentation, based on Theory and Practice of Democracy, Unit IV, Lesson 4, pp. 72-77</dc:subject>
  <dc:creator>Aliza Khan</dc:creator>
  <cp:lastModifiedBy>Aliza Khan</cp:lastModifiedBy>
  <cp:revision>1</cp:revision>
  <dcterms:created xsi:type="dcterms:W3CDTF">2026-10-25T14:02:10Z</dcterms:created>
  <dcterms:modified xsi:type="dcterms:W3CDTF">2026-10-25T14:02:10Z</dcterms:modified>
</cp:coreProperties>
</file>